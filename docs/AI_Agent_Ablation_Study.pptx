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엔지니어의 확인 5단계(trend→Map→과거사례 대조→이력→보고)를 AI Tool이 수 초에 대신하고, 정보가 쌓일수록 조치가 통보→참고→권고→Hold→기간시스템 직접 실행으로 강해진다. STEP 0은 질문 또는 자동 감지 기동.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81000"/>
            <a:ext cx="85725" cy="785217"/>
          </a:xfrm>
          <a:prstGeom prst="roundRect">
            <a:avLst>
              <a:gd name="adj" fmla="val 33333"/>
            </a:avLst>
          </a:prstGeom>
          <a:solidFill>
            <a:srgbClr val="12B5B0"/>
          </a:solidFill>
          <a:ln/>
        </p:spPr>
      </p:sp>
      <p:sp>
        <p:nvSpPr>
          <p:cNvPr id="3" name="Text 1"/>
          <p:cNvSpPr/>
          <p:nvPr/>
        </p:nvSpPr>
        <p:spPr>
          <a:xfrm>
            <a:off x="866775" y="381000"/>
            <a:ext cx="10990570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b="1" spc="150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AI AGENT · TOOL ORCHESTRATION ABLATION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866775" y="709017"/>
            <a:ext cx="109905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30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엔지니어가 하던 일을 AI Tool이 대신하고 — 조치까지 실행한다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71500" y="3517999"/>
            <a:ext cx="840879" cy="272802"/>
          </a:xfrm>
          <a:prstGeom prst="roundRect">
            <a:avLst>
              <a:gd name="adj" fmla="val 20949"/>
            </a:avLst>
          </a:prstGeom>
          <a:solidFill>
            <a:srgbClr val="0F1E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537049"/>
            <a:ext cx="688479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708"/>
              </a:lnSpc>
              <a:buNone/>
            </a:pPr>
            <a:r>
              <a:rPr lang="en-US" sz="1275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1488579" y="3649563"/>
            <a:ext cx="949821" cy="9525"/>
          </a:xfrm>
          <a:prstGeom prst="rect">
            <a:avLst/>
          </a:prstGeom>
          <a:solidFill>
            <a:srgbClr val="D7DEEA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3876526"/>
            <a:ext cx="205359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37"/>
              </a:lnSpc>
              <a:buNone/>
            </a:pPr>
            <a:r>
              <a:rPr lang="en-US" sz="1425" b="1" spc="75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기동 — 두 경로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71500" y="4224635"/>
            <a:ext cx="1866900" cy="1203871"/>
          </a:xfrm>
          <a:prstGeom prst="roundRect">
            <a:avLst>
              <a:gd name="adj" fmla="val 7912"/>
            </a:avLst>
          </a:prstGeom>
          <a:solidFill>
            <a:srgbClr val="0F1E3D"/>
          </a:solidFill>
          <a:ln/>
        </p:spPr>
      </p:sp>
      <p:sp>
        <p:nvSpPr>
          <p:cNvPr id="10" name="Text 8"/>
          <p:cNvSpPr/>
          <p:nvPr/>
        </p:nvSpPr>
        <p:spPr>
          <a:xfrm>
            <a:off x="695325" y="4329410"/>
            <a:ext cx="17811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질문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5325" y="4643735"/>
            <a:ext cx="169545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"PHO-D03 CD가 갑자기 올랐는데, 원인이 뭐야?"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478155" y="5514231"/>
            <a:ext cx="205359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870"/>
              </a:lnSpc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" y="5820817"/>
            <a:ext cx="1866900" cy="1253430"/>
          </a:xfrm>
          <a:prstGeom prst="roundRect">
            <a:avLst>
              <a:gd name="adj" fmla="val 7599"/>
            </a:avLst>
          </a:prstGeom>
          <a:solidFill>
            <a:srgbClr val="1B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695325" y="5925592"/>
            <a:ext cx="16954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이상 자동 감지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5325" y="6516142"/>
            <a:ext cx="16954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변화점 검출 시 사람 없이 자동 기동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571500" y="7159972"/>
            <a:ext cx="2053590" cy="270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쪽이든 </a:t>
            </a:r>
            <a:pPr algn="l" indent="0" marL="0">
              <a:lnSpc>
                <a:spcPct val="124444"/>
              </a:lnSpc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이후 진행은 동일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4125" y="5192762"/>
            <a:ext cx="41529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37"/>
              </a:lnSpc>
              <a:buNone/>
            </a:pPr>
            <a:r>
              <a:rPr lang="en-US" sz="285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2971800" y="1280517"/>
            <a:ext cx="2493913" cy="371475"/>
          </a:xfrm>
          <a:prstGeom prst="roundRect">
            <a:avLst>
              <a:gd name="adj" fmla="val 15385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3725" y="1328142"/>
            <a:ext cx="2246263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15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원래 — 엔지니어 수작업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80013" y="1341983"/>
            <a:ext cx="4897249" cy="2866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5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확인만 5단계 — 열고, 보고, 뒤지고, 접속하고, 보고서까지 쓴다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146357" y="1461492"/>
            <a:ext cx="7570143" cy="9525"/>
          </a:xfrm>
          <a:prstGeom prst="rect">
            <a:avLst/>
          </a:prstGeom>
          <a:solidFill>
            <a:srgbClr val="D7D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1800" y="1728192"/>
            <a:ext cx="2750790" cy="1331416"/>
          </a:xfrm>
          <a:prstGeom prst="roundRect">
            <a:avLst>
              <a:gd name="adj" fmla="val 5723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05150" y="1842492"/>
            <a:ext cx="247650" cy="24765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429000" y="1846362"/>
            <a:ext cx="712887" cy="239911"/>
          </a:xfrm>
          <a:prstGeom prst="roundRect">
            <a:avLst>
              <a:gd name="adj" fmla="val 19851"/>
            </a:avLst>
          </a:prstGeom>
          <a:solidFill>
            <a:srgbClr val="0F1E3D"/>
          </a:solidFill>
          <a:ln/>
        </p:spPr>
      </p:sp>
      <p:sp>
        <p:nvSpPr>
          <p:cNvPr id="25" name="Text 22"/>
          <p:cNvSpPr/>
          <p:nvPr/>
        </p:nvSpPr>
        <p:spPr>
          <a:xfrm>
            <a:off x="3524250" y="1855887"/>
            <a:ext cx="59367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7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115074" y="1843683"/>
            <a:ext cx="474166" cy="245269"/>
          </a:xfrm>
          <a:prstGeom prst="roundRect">
            <a:avLst>
              <a:gd name="adj" fmla="val 19417"/>
            </a:avLst>
          </a:prstGeom>
          <a:ln w="9525">
            <a:solidFill>
              <a:srgbClr val="C2CC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00799" y="1862733"/>
            <a:ext cx="378916" cy="2452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분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3105150" y="2147292"/>
            <a:ext cx="2560290" cy="836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화면을 열어 </a:t>
            </a:r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직접 확인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lot·chamber 바꿔가며 조회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5684490" y="1728192"/>
            <a:ext cx="323850" cy="13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5455"/>
              </a:lnSpc>
              <a:buNone/>
            </a:pPr>
            <a:r>
              <a:rPr lang="en-US" sz="1800" b="1" dirty="0">
                <a:solidFill>
                  <a:srgbClr val="C2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5970240" y="1728192"/>
            <a:ext cx="2750790" cy="1331416"/>
          </a:xfrm>
          <a:prstGeom prst="roundRect">
            <a:avLst>
              <a:gd name="adj" fmla="val 5723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3590" y="1842492"/>
            <a:ext cx="247650" cy="24765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427440" y="1846362"/>
            <a:ext cx="712887" cy="239911"/>
          </a:xfrm>
          <a:prstGeom prst="roundRect">
            <a:avLst>
              <a:gd name="adj" fmla="val 19851"/>
            </a:avLst>
          </a:prstGeom>
          <a:solidFill>
            <a:srgbClr val="0F1E3D"/>
          </a:solidFill>
          <a:ln/>
        </p:spPr>
      </p:sp>
      <p:sp>
        <p:nvSpPr>
          <p:cNvPr id="33" name="Text 29"/>
          <p:cNvSpPr/>
          <p:nvPr/>
        </p:nvSpPr>
        <p:spPr>
          <a:xfrm>
            <a:off x="6522690" y="1855887"/>
            <a:ext cx="59367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7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7982099" y="1843683"/>
            <a:ext cx="605582" cy="245269"/>
          </a:xfrm>
          <a:prstGeom prst="roundRect">
            <a:avLst>
              <a:gd name="adj" fmla="val 19417"/>
            </a:avLst>
          </a:prstGeom>
          <a:ln w="9525">
            <a:solidFill>
              <a:srgbClr val="C2CCD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067824" y="1862733"/>
            <a:ext cx="510332" cy="2452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수십 분</a:t>
            </a:r>
            <a:endParaRPr lang="en-US" sz="1125" dirty="0"/>
          </a:p>
        </p:txBody>
      </p:sp>
      <p:sp>
        <p:nvSpPr>
          <p:cNvPr id="36" name="Text 32"/>
          <p:cNvSpPr/>
          <p:nvPr/>
        </p:nvSpPr>
        <p:spPr>
          <a:xfrm>
            <a:off x="6103590" y="2147292"/>
            <a:ext cx="256029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lot </a:t>
            </a:r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Failbit Map을 열어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분포를 눈으로 확인</a:t>
            </a:r>
            <a:endParaRPr lang="en-US" sz="1425" dirty="0"/>
          </a:p>
        </p:txBody>
      </p:sp>
      <p:sp>
        <p:nvSpPr>
          <p:cNvPr id="37" name="Text 33"/>
          <p:cNvSpPr/>
          <p:nvPr/>
        </p:nvSpPr>
        <p:spPr>
          <a:xfrm>
            <a:off x="8682930" y="1728192"/>
            <a:ext cx="323850" cy="13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5455"/>
              </a:lnSpc>
              <a:buNone/>
            </a:pPr>
            <a:r>
              <a:rPr lang="en-US" sz="1800" b="1" dirty="0">
                <a:solidFill>
                  <a:srgbClr val="C2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8968680" y="1728192"/>
            <a:ext cx="2750790" cy="1331416"/>
          </a:xfrm>
          <a:prstGeom prst="roundRect">
            <a:avLst>
              <a:gd name="adj" fmla="val 5723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02030" y="1842492"/>
            <a:ext cx="247650" cy="24765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9425880" y="1846362"/>
            <a:ext cx="712887" cy="239911"/>
          </a:xfrm>
          <a:prstGeom prst="roundRect">
            <a:avLst>
              <a:gd name="adj" fmla="val 19851"/>
            </a:avLst>
          </a:prstGeom>
          <a:solidFill>
            <a:srgbClr val="0F1E3D"/>
          </a:solidFill>
          <a:ln/>
        </p:spPr>
      </p:sp>
      <p:sp>
        <p:nvSpPr>
          <p:cNvPr id="41" name="Text 36"/>
          <p:cNvSpPr/>
          <p:nvPr/>
        </p:nvSpPr>
        <p:spPr>
          <a:xfrm>
            <a:off x="9521130" y="1855887"/>
            <a:ext cx="59367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7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11020276" y="1843683"/>
            <a:ext cx="565845" cy="245269"/>
          </a:xfrm>
          <a:prstGeom prst="roundRect">
            <a:avLst>
              <a:gd name="adj" fmla="val 19417"/>
            </a:avLst>
          </a:prstGeom>
          <a:ln w="9525">
            <a:solidFill>
              <a:srgbClr val="C2CCDC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1106001" y="1862733"/>
            <a:ext cx="470595" cy="2452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반나절</a:t>
            </a:r>
            <a:endParaRPr lang="en-US" sz="1125" dirty="0"/>
          </a:p>
        </p:txBody>
      </p:sp>
      <p:sp>
        <p:nvSpPr>
          <p:cNvPr id="44" name="Text 39"/>
          <p:cNvSpPr/>
          <p:nvPr/>
        </p:nvSpPr>
        <p:spPr>
          <a:xfrm>
            <a:off x="9102030" y="2147292"/>
            <a:ext cx="2560290" cy="836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"어디서 본 패턴인데" — </a:t>
            </a:r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사고 이미지·Note를 뒤져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하나하나 대조</a:t>
            </a:r>
            <a:endParaRPr lang="en-US" sz="1425" dirty="0"/>
          </a:p>
        </p:txBody>
      </p:sp>
      <p:sp>
        <p:nvSpPr>
          <p:cNvPr id="45" name="Text 40"/>
          <p:cNvSpPr/>
          <p:nvPr/>
        </p:nvSpPr>
        <p:spPr>
          <a:xfrm>
            <a:off x="11681371" y="1728192"/>
            <a:ext cx="323850" cy="13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5455"/>
              </a:lnSpc>
              <a:buNone/>
            </a:pPr>
            <a:r>
              <a:rPr lang="en-US" sz="1800" b="1" dirty="0">
                <a:solidFill>
                  <a:srgbClr val="C2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1"/>
          <p:cNvSpPr/>
          <p:nvPr/>
        </p:nvSpPr>
        <p:spPr>
          <a:xfrm>
            <a:off x="11967121" y="1728192"/>
            <a:ext cx="2750790" cy="1331416"/>
          </a:xfrm>
          <a:prstGeom prst="roundRect">
            <a:avLst>
              <a:gd name="adj" fmla="val 5723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00471" y="1842492"/>
            <a:ext cx="247650" cy="247650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12424321" y="1846362"/>
            <a:ext cx="712887" cy="239911"/>
          </a:xfrm>
          <a:prstGeom prst="roundRect">
            <a:avLst>
              <a:gd name="adj" fmla="val 19851"/>
            </a:avLst>
          </a:prstGeom>
          <a:solidFill>
            <a:srgbClr val="0F1E3D"/>
          </a:solidFill>
          <a:ln/>
        </p:spPr>
      </p:sp>
      <p:sp>
        <p:nvSpPr>
          <p:cNvPr id="49" name="Text 43"/>
          <p:cNvSpPr/>
          <p:nvPr/>
        </p:nvSpPr>
        <p:spPr>
          <a:xfrm>
            <a:off x="12519571" y="1855887"/>
            <a:ext cx="59367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7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13978979" y="1843683"/>
            <a:ext cx="605582" cy="245269"/>
          </a:xfrm>
          <a:prstGeom prst="roundRect">
            <a:avLst>
              <a:gd name="adj" fmla="val 19417"/>
            </a:avLst>
          </a:prstGeom>
          <a:ln w="9525">
            <a:solidFill>
              <a:srgbClr val="C2CCDC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14064704" y="1862733"/>
            <a:ext cx="510332" cy="2452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수십 분</a:t>
            </a:r>
            <a:endParaRPr lang="en-US" sz="1125" dirty="0"/>
          </a:p>
        </p:txBody>
      </p:sp>
      <p:sp>
        <p:nvSpPr>
          <p:cNvPr id="52" name="Text 46"/>
          <p:cNvSpPr/>
          <p:nvPr/>
        </p:nvSpPr>
        <p:spPr>
          <a:xfrm>
            <a:off x="12100471" y="2147292"/>
            <a:ext cx="256029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의심 시점 확인차 </a:t>
            </a:r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MES/SPC 접속, PM·변경점 이력 조회</a:t>
            </a:r>
            <a:endParaRPr lang="en-US" sz="1425" dirty="0"/>
          </a:p>
        </p:txBody>
      </p:sp>
      <p:sp>
        <p:nvSpPr>
          <p:cNvPr id="53" name="Text 47"/>
          <p:cNvSpPr/>
          <p:nvPr/>
        </p:nvSpPr>
        <p:spPr>
          <a:xfrm>
            <a:off x="14679811" y="1728192"/>
            <a:ext cx="323850" cy="13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5455"/>
              </a:lnSpc>
              <a:buNone/>
            </a:pPr>
            <a:r>
              <a:rPr lang="en-US" sz="1800" b="1" dirty="0">
                <a:solidFill>
                  <a:srgbClr val="C2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4" name="Shape 48"/>
          <p:cNvSpPr/>
          <p:nvPr/>
        </p:nvSpPr>
        <p:spPr>
          <a:xfrm>
            <a:off x="14965561" y="1728192"/>
            <a:ext cx="2750790" cy="1331416"/>
          </a:xfrm>
          <a:prstGeom prst="roundRect">
            <a:avLst>
              <a:gd name="adj" fmla="val 5723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98911" y="1842492"/>
            <a:ext cx="247650" cy="247650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15422761" y="1846362"/>
            <a:ext cx="712887" cy="239911"/>
          </a:xfrm>
          <a:prstGeom prst="roundRect">
            <a:avLst>
              <a:gd name="adj" fmla="val 19851"/>
            </a:avLst>
          </a:prstGeom>
          <a:solidFill>
            <a:srgbClr val="0F1E3D"/>
          </a:solidFill>
          <a:ln/>
        </p:spPr>
      </p:sp>
      <p:sp>
        <p:nvSpPr>
          <p:cNvPr id="57" name="Text 50"/>
          <p:cNvSpPr/>
          <p:nvPr/>
        </p:nvSpPr>
        <p:spPr>
          <a:xfrm>
            <a:off x="15518011" y="1855887"/>
            <a:ext cx="59367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7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16977420" y="1843683"/>
            <a:ext cx="605582" cy="245269"/>
          </a:xfrm>
          <a:prstGeom prst="roundRect">
            <a:avLst>
              <a:gd name="adj" fmla="val 19417"/>
            </a:avLst>
          </a:prstGeom>
          <a:ln w="9525">
            <a:solidFill>
              <a:srgbClr val="C2CCDC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17063145" y="1862733"/>
            <a:ext cx="510332" cy="2452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시간</a:t>
            </a:r>
            <a:endParaRPr lang="en-US" sz="1125" dirty="0"/>
          </a:p>
        </p:txBody>
      </p:sp>
      <p:sp>
        <p:nvSpPr>
          <p:cNvPr id="60" name="Text 53"/>
          <p:cNvSpPr/>
          <p:nvPr/>
        </p:nvSpPr>
        <p:spPr>
          <a:xfrm>
            <a:off x="15098911" y="2147292"/>
            <a:ext cx="256029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작성·회의 소집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조치 품의·결재까지</a:t>
            </a:r>
            <a:endParaRPr lang="en-US" sz="1425" dirty="0"/>
          </a:p>
        </p:txBody>
      </p:sp>
      <p:sp>
        <p:nvSpPr>
          <p:cNvPr id="61" name="Shape 54"/>
          <p:cNvSpPr/>
          <p:nvPr/>
        </p:nvSpPr>
        <p:spPr>
          <a:xfrm>
            <a:off x="2971800" y="3059609"/>
            <a:ext cx="1671786" cy="371475"/>
          </a:xfrm>
          <a:prstGeom prst="roundRect">
            <a:avLst>
              <a:gd name="adj" fmla="val 15385"/>
            </a:avLst>
          </a:prstGeom>
          <a:solidFill>
            <a:srgbClr val="E6F7F6"/>
          </a:solidFill>
          <a:ln w="9525">
            <a:solidFill>
              <a:srgbClr val="BFE6E4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3133725" y="3107234"/>
            <a:ext cx="142413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15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✚ 답변의 고도화</a:t>
            </a:r>
            <a:endParaRPr lang="en-US" sz="1500" dirty="0"/>
          </a:p>
        </p:txBody>
      </p:sp>
      <p:sp>
        <p:nvSpPr>
          <p:cNvPr id="63" name="Text 56"/>
          <p:cNvSpPr/>
          <p:nvPr/>
        </p:nvSpPr>
        <p:spPr>
          <a:xfrm>
            <a:off x="4757886" y="3121075"/>
            <a:ext cx="4047098" cy="2866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5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Tool이 하나 붙을 때마다 같은 질문의 답이 진화한다</a:t>
            </a:r>
            <a:endParaRPr lang="en-US" sz="1350" dirty="0"/>
          </a:p>
        </p:txBody>
      </p:sp>
      <p:sp>
        <p:nvSpPr>
          <p:cNvPr id="64" name="Shape 57"/>
          <p:cNvSpPr/>
          <p:nvPr/>
        </p:nvSpPr>
        <p:spPr>
          <a:xfrm>
            <a:off x="8551366" y="3240584"/>
            <a:ext cx="9165134" cy="9525"/>
          </a:xfrm>
          <a:prstGeom prst="rect">
            <a:avLst/>
          </a:prstGeom>
          <a:solidFill>
            <a:srgbClr val="D7DEEA"/>
          </a:solidFill>
          <a:ln/>
        </p:spPr>
      </p:sp>
      <p:sp>
        <p:nvSpPr>
          <p:cNvPr id="65" name="Shape 58"/>
          <p:cNvSpPr/>
          <p:nvPr/>
        </p:nvSpPr>
        <p:spPr>
          <a:xfrm>
            <a:off x="2971800" y="4921746"/>
            <a:ext cx="2750790" cy="809625"/>
          </a:xfrm>
          <a:prstGeom prst="roundRect">
            <a:avLst>
              <a:gd name="adj" fmla="val 9412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3114675" y="5045571"/>
            <a:ext cx="254124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"7/26 02시부터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CD가 급등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했습니다."</a:t>
            </a:r>
            <a:endParaRPr lang="en-US" sz="1425" dirty="0"/>
          </a:p>
        </p:txBody>
      </p:sp>
      <p:sp>
        <p:nvSpPr>
          <p:cNvPr id="67" name="Text 60"/>
          <p:cNvSpPr/>
          <p:nvPr/>
        </p:nvSpPr>
        <p:spPr>
          <a:xfrm>
            <a:off x="5684490" y="4969371"/>
            <a:ext cx="3238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892"/>
              </a:lnSpc>
              <a:buNone/>
            </a:pPr>
            <a:r>
              <a:rPr lang="en-US" sz="195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68" name="Shape 61"/>
          <p:cNvSpPr/>
          <p:nvPr/>
        </p:nvSpPr>
        <p:spPr>
          <a:xfrm>
            <a:off x="5970240" y="4378821"/>
            <a:ext cx="2750790" cy="1352550"/>
          </a:xfrm>
          <a:prstGeom prst="roundRect">
            <a:avLst>
              <a:gd name="adj" fmla="val 5634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6113115" y="4502646"/>
            <a:ext cx="254124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"7/26 02시부터 CD가 급등했고, Map상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국부 집중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Focus 편차형 불량이 의심됩니다."</a:t>
            </a:r>
            <a:endParaRPr lang="en-US" sz="1425" dirty="0"/>
          </a:p>
        </p:txBody>
      </p:sp>
      <p:sp>
        <p:nvSpPr>
          <p:cNvPr id="70" name="Text 63"/>
          <p:cNvSpPr/>
          <p:nvPr/>
        </p:nvSpPr>
        <p:spPr>
          <a:xfrm>
            <a:off x="8682930" y="4969371"/>
            <a:ext cx="3238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892"/>
              </a:lnSpc>
              <a:buNone/>
            </a:pPr>
            <a:r>
              <a:rPr lang="en-US" sz="195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71" name="Shape 64"/>
          <p:cNvSpPr/>
          <p:nvPr/>
        </p:nvSpPr>
        <p:spPr>
          <a:xfrm>
            <a:off x="8968680" y="4088309"/>
            <a:ext cx="2750790" cy="1643063"/>
          </a:xfrm>
          <a:prstGeom prst="roundRect">
            <a:avLst>
              <a:gd name="adj" fmla="val 4638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9111555" y="4212134"/>
            <a:ext cx="2541240" cy="1433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"7/26 02시부터 CD 급등, Map상 edge 집중 —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’25.11 유사사례와 87% 일치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당시 원인은 Scanner Focus 드리프트였습니다."</a:t>
            </a:r>
            <a:endParaRPr lang="en-US" sz="1425" dirty="0"/>
          </a:p>
        </p:txBody>
      </p:sp>
      <p:sp>
        <p:nvSpPr>
          <p:cNvPr id="73" name="Text 66"/>
          <p:cNvSpPr/>
          <p:nvPr/>
        </p:nvSpPr>
        <p:spPr>
          <a:xfrm>
            <a:off x="11681371" y="4969371"/>
            <a:ext cx="3238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892"/>
              </a:lnSpc>
              <a:buNone/>
            </a:pPr>
            <a:r>
              <a:rPr lang="en-US" sz="195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74" name="Shape 67"/>
          <p:cNvSpPr/>
          <p:nvPr/>
        </p:nvSpPr>
        <p:spPr>
          <a:xfrm>
            <a:off x="11967121" y="4069259"/>
            <a:ext cx="2750790" cy="1662113"/>
          </a:xfrm>
          <a:prstGeom prst="roundRect">
            <a:avLst>
              <a:gd name="adj" fmla="val 4585"/>
            </a:avLst>
          </a:prstGeom>
          <a:solidFill>
            <a:srgbClr val="F2F5F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12109996" y="4193084"/>
            <a:ext cx="2541240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"7/26 02시 CD 급등, edge 집중, 유사사례 87% 일치 — 설비 이력에서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7/26 Scanner PM 직후 Focus 재보정 누락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확인,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원인이 특정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됩니다."</a:t>
            </a:r>
            <a:endParaRPr lang="en-US" sz="1425" dirty="0"/>
          </a:p>
        </p:txBody>
      </p:sp>
      <p:sp>
        <p:nvSpPr>
          <p:cNvPr id="76" name="Text 69"/>
          <p:cNvSpPr/>
          <p:nvPr/>
        </p:nvSpPr>
        <p:spPr>
          <a:xfrm>
            <a:off x="14679811" y="4969371"/>
            <a:ext cx="3238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892"/>
              </a:lnSpc>
              <a:buNone/>
            </a:pPr>
            <a:r>
              <a:rPr lang="en-US" sz="195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77" name="Shape 70"/>
          <p:cNvSpPr/>
          <p:nvPr/>
        </p:nvSpPr>
        <p:spPr>
          <a:xfrm>
            <a:off x="14965561" y="3488234"/>
            <a:ext cx="2750790" cy="2243138"/>
          </a:xfrm>
          <a:prstGeom prst="roundRect">
            <a:avLst>
              <a:gd name="adj" fmla="val 3397"/>
            </a:avLst>
          </a:prstGeom>
          <a:solidFill>
            <a:srgbClr val="E6F7F6"/>
          </a:solidFill>
          <a:ln/>
        </p:spPr>
      </p:sp>
      <p:sp>
        <p:nvSpPr>
          <p:cNvPr id="78" name="Shape 71"/>
          <p:cNvSpPr/>
          <p:nvPr/>
        </p:nvSpPr>
        <p:spPr>
          <a:xfrm>
            <a:off x="14965561" y="5721846"/>
            <a:ext cx="2750790" cy="9525"/>
          </a:xfrm>
          <a:prstGeom prst="rect">
            <a:avLst/>
          </a:prstGeom>
          <a:solidFill>
            <a:srgbClr val="BFE6E4"/>
          </a:solidFill>
          <a:ln/>
        </p:spPr>
      </p:sp>
      <p:sp>
        <p:nvSpPr>
          <p:cNvPr id="79" name="Shape 72"/>
          <p:cNvSpPr/>
          <p:nvPr/>
        </p:nvSpPr>
        <p:spPr>
          <a:xfrm>
            <a:off x="14965561" y="3488234"/>
            <a:ext cx="2750790" cy="9525"/>
          </a:xfrm>
          <a:prstGeom prst="rect">
            <a:avLst/>
          </a:prstGeom>
          <a:solidFill>
            <a:srgbClr val="BFE6E4"/>
          </a:solidFill>
          <a:ln/>
        </p:spPr>
      </p:sp>
      <p:sp>
        <p:nvSpPr>
          <p:cNvPr id="80" name="Shape 73"/>
          <p:cNvSpPr/>
          <p:nvPr/>
        </p:nvSpPr>
        <p:spPr>
          <a:xfrm>
            <a:off x="14965561" y="3488234"/>
            <a:ext cx="57150" cy="2243138"/>
          </a:xfrm>
          <a:prstGeom prst="rect">
            <a:avLst/>
          </a:prstGeom>
          <a:solidFill>
            <a:srgbClr val="12B5B0"/>
          </a:solidFill>
          <a:ln/>
        </p:spPr>
      </p:sp>
      <p:sp>
        <p:nvSpPr>
          <p:cNvPr id="81" name="Shape 74"/>
          <p:cNvSpPr/>
          <p:nvPr/>
        </p:nvSpPr>
        <p:spPr>
          <a:xfrm>
            <a:off x="17706826" y="3488234"/>
            <a:ext cx="9525" cy="2243138"/>
          </a:xfrm>
          <a:prstGeom prst="rect">
            <a:avLst/>
          </a:prstGeom>
          <a:solidFill>
            <a:srgbClr val="BFE6E4"/>
          </a:solidFill>
          <a:ln/>
        </p:spPr>
      </p:sp>
      <p:sp>
        <p:nvSpPr>
          <p:cNvPr id="82" name="Text 75"/>
          <p:cNvSpPr/>
          <p:nvPr/>
        </p:nvSpPr>
        <p:spPr>
          <a:xfrm>
            <a:off x="15156061" y="3612059"/>
            <a:ext cx="2493615" cy="2033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"결론: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7/26 Scanner PM 후 Focus/Dose 재보정 누락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원인입니다. 근거 3종(Trend·Map·이력) 인용 —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진행 금지(인터락), 조치 코드 발행, 보고서 공유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까지 완료했습니다."</a:t>
            </a:r>
            <a:endParaRPr lang="en-US" sz="1425" dirty="0"/>
          </a:p>
        </p:txBody>
      </p:sp>
      <p:sp>
        <p:nvSpPr>
          <p:cNvPr id="83" name="Shape 76"/>
          <p:cNvSpPr/>
          <p:nvPr/>
        </p:nvSpPr>
        <p:spPr>
          <a:xfrm>
            <a:off x="2971800" y="5731371"/>
            <a:ext cx="1695450" cy="352425"/>
          </a:xfrm>
          <a:prstGeom prst="roundRect">
            <a:avLst>
              <a:gd name="adj" fmla="val 16216"/>
            </a:avLst>
          </a:prstGeom>
          <a:solidFill>
            <a:srgbClr val="0F1E3D"/>
          </a:solidFill>
          <a:ln/>
        </p:spPr>
      </p:sp>
      <p:sp>
        <p:nvSpPr>
          <p:cNvPr id="84" name="Text 77"/>
          <p:cNvSpPr/>
          <p:nvPr/>
        </p:nvSpPr>
        <p:spPr>
          <a:xfrm>
            <a:off x="3124200" y="5769471"/>
            <a:ext cx="146685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AI Tool이 대신</a:t>
            </a:r>
            <a:endParaRPr lang="en-US" sz="1500" dirty="0"/>
          </a:p>
        </p:txBody>
      </p:sp>
      <p:sp>
        <p:nvSpPr>
          <p:cNvPr id="85" name="Text 78"/>
          <p:cNvSpPr/>
          <p:nvPr/>
        </p:nvSpPr>
        <p:spPr>
          <a:xfrm>
            <a:off x="4781550" y="5783312"/>
            <a:ext cx="3646989" cy="2866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5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Tool이 정보를 가져오고, 출력이 답변에 쌓인다</a:t>
            </a:r>
            <a:endParaRPr lang="en-US" sz="1350" dirty="0"/>
          </a:p>
        </p:txBody>
      </p:sp>
      <p:sp>
        <p:nvSpPr>
          <p:cNvPr id="86" name="Shape 79"/>
          <p:cNvSpPr/>
          <p:nvPr/>
        </p:nvSpPr>
        <p:spPr>
          <a:xfrm>
            <a:off x="8211294" y="5902821"/>
            <a:ext cx="9505206" cy="9525"/>
          </a:xfrm>
          <a:prstGeom prst="rect">
            <a:avLst/>
          </a:prstGeom>
          <a:solidFill>
            <a:srgbClr val="D7DEEA"/>
          </a:solidFill>
          <a:ln/>
        </p:spPr>
      </p:sp>
      <p:sp>
        <p:nvSpPr>
          <p:cNvPr id="87" name="Shape 80"/>
          <p:cNvSpPr/>
          <p:nvPr/>
        </p:nvSpPr>
        <p:spPr>
          <a:xfrm>
            <a:off x="2971800" y="6159996"/>
            <a:ext cx="2750790" cy="2209949"/>
          </a:xfrm>
          <a:prstGeom prst="roundRect">
            <a:avLst>
              <a:gd name="adj" fmla="val 4310"/>
            </a:avLst>
          </a:prstGeom>
          <a:solidFill>
            <a:srgbClr val="0F1E3D"/>
          </a:solidFill>
          <a:ln/>
        </p:spPr>
      </p:sp>
      <p:sp>
        <p:nvSpPr>
          <p:cNvPr id="88" name="Shape 81"/>
          <p:cNvSpPr/>
          <p:nvPr/>
        </p:nvSpPr>
        <p:spPr>
          <a:xfrm>
            <a:off x="3086100" y="626477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pic>
        <p:nvPicPr>
          <p:cNvPr id="8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2775" y="6331446"/>
            <a:ext cx="209550" cy="209550"/>
          </a:xfrm>
          <a:prstGeom prst="rect">
            <a:avLst/>
          </a:prstGeom>
        </p:spPr>
      </p:pic>
      <p:sp>
        <p:nvSpPr>
          <p:cNvPr id="90" name="Text 82"/>
          <p:cNvSpPr/>
          <p:nvPr/>
        </p:nvSpPr>
        <p:spPr>
          <a:xfrm>
            <a:off x="3514725" y="6304955"/>
            <a:ext cx="1397928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계측 Trend 조회</a:t>
            </a:r>
            <a:endParaRPr lang="en-US" sz="1425" dirty="0"/>
          </a:p>
        </p:txBody>
      </p:sp>
      <p:sp>
        <p:nvSpPr>
          <p:cNvPr id="91" name="Shape 83"/>
          <p:cNvSpPr/>
          <p:nvPr/>
        </p:nvSpPr>
        <p:spPr>
          <a:xfrm>
            <a:off x="3086100" y="6674346"/>
            <a:ext cx="2522190" cy="1062633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/>
        </p:spPr>
      </p:sp>
      <p:sp>
        <p:nvSpPr>
          <p:cNvPr id="92" name="Text 84"/>
          <p:cNvSpPr/>
          <p:nvPr/>
        </p:nvSpPr>
        <p:spPr>
          <a:xfrm>
            <a:off x="3181350" y="6741021"/>
            <a:ext cx="2564859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spc="75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조회 결과</a:t>
            </a:r>
            <a:endParaRPr lang="en-US" sz="1125" dirty="0"/>
          </a:p>
        </p:txBody>
      </p:sp>
      <p:sp>
        <p:nvSpPr>
          <p:cNvPr id="93" name="Shape 85"/>
          <p:cNvSpPr/>
          <p:nvPr/>
        </p:nvSpPr>
        <p:spPr>
          <a:xfrm>
            <a:off x="3181350" y="7152084"/>
            <a:ext cx="438150" cy="342900"/>
          </a:xfrm>
          <a:prstGeom prst="roundRect">
            <a:avLst>
              <a:gd name="adj" fmla="val 11111"/>
            </a:avLst>
          </a:prstGeom>
          <a:ln w="9525">
            <a:solidFill>
              <a:srgbClr val="D7DEEA"/>
            </a:solidFill>
            <a:prstDash val="solid"/>
          </a:ln>
        </p:spPr>
      </p:sp>
      <p:pic>
        <p:nvPicPr>
          <p:cNvPr id="94" name="Image 6" descr="preencoded.png">    </p:cNvPr>
          <p:cNvPicPr>
            <a:picLocks noChangeAspect="1"/>
          </p:cNvPicPr>
          <p:nvPr/>
        </p:nvPicPr>
        <p:blipFill>
          <a:blip r:embed="rId13"/>
          <a:srcRect l="5939" r="5939" t="0" b="0"/>
          <a:stretch/>
        </p:blipFill>
        <p:spPr>
          <a:xfrm>
            <a:off x="3181350" y="7152084"/>
            <a:ext cx="438150" cy="342900"/>
          </a:xfrm>
          <a:prstGeom prst="rect">
            <a:avLst/>
          </a:prstGeom>
        </p:spPr>
      </p:pic>
      <p:sp>
        <p:nvSpPr>
          <p:cNvPr id="95" name="Text 86"/>
          <p:cNvSpPr/>
          <p:nvPr/>
        </p:nvSpPr>
        <p:spPr>
          <a:xfrm>
            <a:off x="3695700" y="6976765"/>
            <a:ext cx="189354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07/26 02:14부터 </a:t>
            </a:r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+0.8nm </a:t>
            </a:r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변화점 자동 검출</a:t>
            </a:r>
            <a:endParaRPr lang="en-US" sz="1275" dirty="0"/>
          </a:p>
        </p:txBody>
      </p:sp>
      <p:sp>
        <p:nvSpPr>
          <p:cNvPr id="96" name="Text 87"/>
          <p:cNvSpPr/>
          <p:nvPr/>
        </p:nvSpPr>
        <p:spPr>
          <a:xfrm>
            <a:off x="3086100" y="8027640"/>
            <a:ext cx="2774409" cy="275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답변에: </a:t>
            </a:r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급등 시점 특정</a:t>
            </a:r>
            <a:endParaRPr lang="en-US" sz="1275" dirty="0"/>
          </a:p>
        </p:txBody>
      </p:sp>
      <p:sp>
        <p:nvSpPr>
          <p:cNvPr id="97" name="Shape 88"/>
          <p:cNvSpPr/>
          <p:nvPr/>
        </p:nvSpPr>
        <p:spPr>
          <a:xfrm>
            <a:off x="5181749" y="6245721"/>
            <a:ext cx="455116" cy="226219"/>
          </a:xfrm>
          <a:prstGeom prst="roundRect">
            <a:avLst>
              <a:gd name="adj" fmla="val 21053"/>
            </a:avLst>
          </a:prstGeom>
          <a:solidFill>
            <a:srgbClr val="12B5B0"/>
          </a:solidFill>
          <a:ln/>
        </p:spPr>
      </p:sp>
      <p:sp>
        <p:nvSpPr>
          <p:cNvPr id="98" name="Text 89"/>
          <p:cNvSpPr/>
          <p:nvPr/>
        </p:nvSpPr>
        <p:spPr>
          <a:xfrm>
            <a:off x="5257949" y="6255246"/>
            <a:ext cx="34822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초</a:t>
            </a:r>
            <a:endParaRPr lang="en-US" sz="1125" dirty="0"/>
          </a:p>
        </p:txBody>
      </p:sp>
      <p:sp>
        <p:nvSpPr>
          <p:cNvPr id="99" name="Text 90"/>
          <p:cNvSpPr/>
          <p:nvPr/>
        </p:nvSpPr>
        <p:spPr>
          <a:xfrm>
            <a:off x="5684490" y="6159996"/>
            <a:ext cx="323850" cy="2248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500"/>
              </a:lnSpc>
              <a:buNone/>
            </a:pPr>
            <a:r>
              <a:rPr lang="en-US" sz="210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00" name="Shape 91"/>
          <p:cNvSpPr/>
          <p:nvPr/>
        </p:nvSpPr>
        <p:spPr>
          <a:xfrm>
            <a:off x="5970240" y="6159996"/>
            <a:ext cx="2750790" cy="2209949"/>
          </a:xfrm>
          <a:prstGeom prst="roundRect">
            <a:avLst>
              <a:gd name="adj" fmla="val 4310"/>
            </a:avLst>
          </a:prstGeom>
          <a:solidFill>
            <a:srgbClr val="0F1E3D"/>
          </a:solidFill>
          <a:ln/>
        </p:spPr>
      </p:sp>
      <p:sp>
        <p:nvSpPr>
          <p:cNvPr id="101" name="Shape 92"/>
          <p:cNvSpPr/>
          <p:nvPr/>
        </p:nvSpPr>
        <p:spPr>
          <a:xfrm>
            <a:off x="6084540" y="626477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pic>
        <p:nvPicPr>
          <p:cNvPr id="10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51215" y="6331446"/>
            <a:ext cx="209550" cy="209550"/>
          </a:xfrm>
          <a:prstGeom prst="rect">
            <a:avLst/>
          </a:prstGeom>
        </p:spPr>
      </p:pic>
      <p:sp>
        <p:nvSpPr>
          <p:cNvPr id="103" name="Text 93"/>
          <p:cNvSpPr/>
          <p:nvPr/>
        </p:nvSpPr>
        <p:spPr>
          <a:xfrm>
            <a:off x="6513165" y="6304955"/>
            <a:ext cx="127252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Map 판독</a:t>
            </a:r>
            <a:endParaRPr lang="en-US" sz="1425" dirty="0"/>
          </a:p>
        </p:txBody>
      </p:sp>
      <p:sp>
        <p:nvSpPr>
          <p:cNvPr id="104" name="Shape 94"/>
          <p:cNvSpPr/>
          <p:nvPr/>
        </p:nvSpPr>
        <p:spPr>
          <a:xfrm>
            <a:off x="6084540" y="6674346"/>
            <a:ext cx="2522190" cy="825103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/>
        </p:spPr>
      </p:sp>
      <p:sp>
        <p:nvSpPr>
          <p:cNvPr id="105" name="Text 95"/>
          <p:cNvSpPr/>
          <p:nvPr/>
        </p:nvSpPr>
        <p:spPr>
          <a:xfrm>
            <a:off x="6179790" y="6741021"/>
            <a:ext cx="2564859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spc="75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판독 결과</a:t>
            </a:r>
            <a:endParaRPr lang="en-US" sz="1125" dirty="0"/>
          </a:p>
        </p:txBody>
      </p:sp>
      <p:sp>
        <p:nvSpPr>
          <p:cNvPr id="106" name="Shape 96"/>
          <p:cNvSpPr/>
          <p:nvPr/>
        </p:nvSpPr>
        <p:spPr>
          <a:xfrm>
            <a:off x="6179790" y="7004745"/>
            <a:ext cx="400050" cy="400050"/>
          </a:xfrm>
          <a:prstGeom prst="roundRect">
            <a:avLst>
              <a:gd name="adj" fmla="val 9524"/>
            </a:avLst>
          </a:prstGeom>
          <a:ln w="9525">
            <a:solidFill>
              <a:srgbClr val="D7DEEA"/>
            </a:solidFill>
            <a:prstDash val="solid"/>
          </a:ln>
        </p:spPr>
      </p:sp>
      <p:pic>
        <p:nvPicPr>
          <p:cNvPr id="107" name="Image 8" descr="preencoded.png">    </p:cNvPr>
          <p:cNvPicPr>
            <a:picLocks noChangeAspect="1"/>
          </p:cNvPicPr>
          <p:nvPr/>
        </p:nvPicPr>
        <p:blipFill>
          <a:blip r:embed="rId16"/>
          <a:srcRect l="0" r="0" t="6452" b="6452"/>
          <a:stretch/>
        </p:blipFill>
        <p:spPr>
          <a:xfrm>
            <a:off x="6179790" y="7004745"/>
            <a:ext cx="400050" cy="400050"/>
          </a:xfrm>
          <a:prstGeom prst="rect">
            <a:avLst/>
          </a:prstGeom>
        </p:spPr>
      </p:pic>
      <p:sp>
        <p:nvSpPr>
          <p:cNvPr id="108" name="Text 97"/>
          <p:cNvSpPr/>
          <p:nvPr/>
        </p:nvSpPr>
        <p:spPr>
          <a:xfrm>
            <a:off x="6656040" y="6976765"/>
            <a:ext cx="1398240" cy="494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국부 집중 </a:t>
            </a:r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소견: Focus 편차형</a:t>
            </a:r>
            <a:endParaRPr lang="en-US" sz="1275" dirty="0"/>
          </a:p>
        </p:txBody>
      </p:sp>
      <p:sp>
        <p:nvSpPr>
          <p:cNvPr id="109" name="Text 98"/>
          <p:cNvSpPr/>
          <p:nvPr/>
        </p:nvSpPr>
        <p:spPr>
          <a:xfrm>
            <a:off x="6084540" y="8027640"/>
            <a:ext cx="2774409" cy="275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답변에: </a:t>
            </a:r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이미지+소견 </a:t>
            </a:r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첨부</a:t>
            </a:r>
            <a:endParaRPr lang="en-US" sz="1275" dirty="0"/>
          </a:p>
        </p:txBody>
      </p:sp>
      <p:sp>
        <p:nvSpPr>
          <p:cNvPr id="110" name="Shape 99"/>
          <p:cNvSpPr/>
          <p:nvPr/>
        </p:nvSpPr>
        <p:spPr>
          <a:xfrm>
            <a:off x="8180189" y="6245721"/>
            <a:ext cx="455116" cy="226219"/>
          </a:xfrm>
          <a:prstGeom prst="roundRect">
            <a:avLst>
              <a:gd name="adj" fmla="val 21053"/>
            </a:avLst>
          </a:prstGeom>
          <a:solidFill>
            <a:srgbClr val="12B5B0"/>
          </a:solidFill>
          <a:ln/>
        </p:spPr>
      </p:sp>
      <p:sp>
        <p:nvSpPr>
          <p:cNvPr id="111" name="Text 100"/>
          <p:cNvSpPr/>
          <p:nvPr/>
        </p:nvSpPr>
        <p:spPr>
          <a:xfrm>
            <a:off x="8256389" y="6255246"/>
            <a:ext cx="34822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초</a:t>
            </a:r>
            <a:endParaRPr lang="en-US" sz="1125" dirty="0"/>
          </a:p>
        </p:txBody>
      </p:sp>
      <p:sp>
        <p:nvSpPr>
          <p:cNvPr id="112" name="Text 101"/>
          <p:cNvSpPr/>
          <p:nvPr/>
        </p:nvSpPr>
        <p:spPr>
          <a:xfrm>
            <a:off x="8682930" y="6159996"/>
            <a:ext cx="323850" cy="2248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500"/>
              </a:lnSpc>
              <a:buNone/>
            </a:pPr>
            <a:r>
              <a:rPr lang="en-US" sz="210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13" name="Shape 102"/>
          <p:cNvSpPr/>
          <p:nvPr/>
        </p:nvSpPr>
        <p:spPr>
          <a:xfrm>
            <a:off x="8968680" y="6159996"/>
            <a:ext cx="2750790" cy="2209949"/>
          </a:xfrm>
          <a:prstGeom prst="roundRect">
            <a:avLst>
              <a:gd name="adj" fmla="val 4310"/>
            </a:avLst>
          </a:prstGeom>
          <a:solidFill>
            <a:srgbClr val="0F1E3D"/>
          </a:solidFill>
          <a:ln/>
        </p:spPr>
      </p:sp>
      <p:sp>
        <p:nvSpPr>
          <p:cNvPr id="114" name="Shape 103"/>
          <p:cNvSpPr/>
          <p:nvPr/>
        </p:nvSpPr>
        <p:spPr>
          <a:xfrm>
            <a:off x="9082980" y="626477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pic>
        <p:nvPicPr>
          <p:cNvPr id="115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49655" y="6331446"/>
            <a:ext cx="209550" cy="209550"/>
          </a:xfrm>
          <a:prstGeom prst="rect">
            <a:avLst/>
          </a:prstGeom>
        </p:spPr>
      </p:pic>
      <p:sp>
        <p:nvSpPr>
          <p:cNvPr id="116" name="Text 104"/>
          <p:cNvSpPr/>
          <p:nvPr/>
        </p:nvSpPr>
        <p:spPr>
          <a:xfrm>
            <a:off x="9511605" y="6304955"/>
            <a:ext cx="1738283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사례·Note 검색</a:t>
            </a:r>
            <a:endParaRPr lang="en-US" sz="1425" dirty="0"/>
          </a:p>
        </p:txBody>
      </p:sp>
      <p:sp>
        <p:nvSpPr>
          <p:cNvPr id="117" name="Shape 105"/>
          <p:cNvSpPr/>
          <p:nvPr/>
        </p:nvSpPr>
        <p:spPr>
          <a:xfrm>
            <a:off x="9082980" y="6674346"/>
            <a:ext cx="2522190" cy="1068139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/>
        </p:spPr>
      </p:sp>
      <p:sp>
        <p:nvSpPr>
          <p:cNvPr id="118" name="Text 106"/>
          <p:cNvSpPr/>
          <p:nvPr/>
        </p:nvSpPr>
        <p:spPr>
          <a:xfrm>
            <a:off x="9178230" y="6741021"/>
            <a:ext cx="2564859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spc="75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 · 유사도순</a:t>
            </a:r>
            <a:endParaRPr lang="en-US" sz="1125" dirty="0"/>
          </a:p>
        </p:txBody>
      </p:sp>
      <p:sp>
        <p:nvSpPr>
          <p:cNvPr id="119" name="Text 107"/>
          <p:cNvSpPr/>
          <p:nvPr/>
        </p:nvSpPr>
        <p:spPr>
          <a:xfrm>
            <a:off x="9178230" y="6976765"/>
            <a:ext cx="2407890" cy="73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'25.11 PHO-D01 </a:t>
            </a:r>
            <a:pPr algn="l" indent="0" marL="0">
              <a:lnSpc>
                <a:spcPct val="11900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유사도 87% </a:t>
            </a:r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Focus 드리프트 ② '25.03 PHO-B02 — 동일 패턴</a:t>
            </a:r>
            <a:endParaRPr lang="en-US" sz="1275" dirty="0"/>
          </a:p>
        </p:txBody>
      </p:sp>
      <p:sp>
        <p:nvSpPr>
          <p:cNvPr id="120" name="Text 108"/>
          <p:cNvSpPr/>
          <p:nvPr/>
        </p:nvSpPr>
        <p:spPr>
          <a:xfrm>
            <a:off x="9082980" y="7809161"/>
            <a:ext cx="2598390" cy="494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답변에: </a:t>
            </a:r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유사사례 3건+당시 조치 </a:t>
            </a:r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인용</a:t>
            </a:r>
            <a:endParaRPr lang="en-US" sz="1275" dirty="0"/>
          </a:p>
        </p:txBody>
      </p:sp>
      <p:sp>
        <p:nvSpPr>
          <p:cNvPr id="121" name="Shape 109"/>
          <p:cNvSpPr/>
          <p:nvPr/>
        </p:nvSpPr>
        <p:spPr>
          <a:xfrm>
            <a:off x="11178629" y="6245721"/>
            <a:ext cx="455116" cy="226219"/>
          </a:xfrm>
          <a:prstGeom prst="roundRect">
            <a:avLst>
              <a:gd name="adj" fmla="val 21053"/>
            </a:avLst>
          </a:prstGeom>
          <a:solidFill>
            <a:srgbClr val="12B5B0"/>
          </a:solidFill>
          <a:ln/>
        </p:spPr>
      </p:sp>
      <p:sp>
        <p:nvSpPr>
          <p:cNvPr id="122" name="Text 110"/>
          <p:cNvSpPr/>
          <p:nvPr/>
        </p:nvSpPr>
        <p:spPr>
          <a:xfrm>
            <a:off x="11254829" y="6255246"/>
            <a:ext cx="34822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초</a:t>
            </a:r>
            <a:endParaRPr lang="en-US" sz="1125" dirty="0"/>
          </a:p>
        </p:txBody>
      </p:sp>
      <p:sp>
        <p:nvSpPr>
          <p:cNvPr id="123" name="Text 111"/>
          <p:cNvSpPr/>
          <p:nvPr/>
        </p:nvSpPr>
        <p:spPr>
          <a:xfrm>
            <a:off x="11681371" y="6159996"/>
            <a:ext cx="323850" cy="2248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500"/>
              </a:lnSpc>
              <a:buNone/>
            </a:pPr>
            <a:r>
              <a:rPr lang="en-US" sz="210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4" name="Shape 112"/>
          <p:cNvSpPr/>
          <p:nvPr/>
        </p:nvSpPr>
        <p:spPr>
          <a:xfrm>
            <a:off x="11967121" y="6159996"/>
            <a:ext cx="2750790" cy="2209949"/>
          </a:xfrm>
          <a:prstGeom prst="roundRect">
            <a:avLst>
              <a:gd name="adj" fmla="val 4310"/>
            </a:avLst>
          </a:prstGeom>
          <a:solidFill>
            <a:srgbClr val="0F1E3D"/>
          </a:solidFill>
          <a:ln/>
        </p:spPr>
      </p:sp>
      <p:sp>
        <p:nvSpPr>
          <p:cNvPr id="125" name="Shape 113"/>
          <p:cNvSpPr/>
          <p:nvPr/>
        </p:nvSpPr>
        <p:spPr>
          <a:xfrm>
            <a:off x="12081421" y="626477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pic>
        <p:nvPicPr>
          <p:cNvPr id="126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148096" y="6331446"/>
            <a:ext cx="209550" cy="209550"/>
          </a:xfrm>
          <a:prstGeom prst="rect">
            <a:avLst/>
          </a:prstGeom>
        </p:spPr>
      </p:pic>
      <p:sp>
        <p:nvSpPr>
          <p:cNvPr id="127" name="Text 114"/>
          <p:cNvSpPr/>
          <p:nvPr/>
        </p:nvSpPr>
        <p:spPr>
          <a:xfrm>
            <a:off x="12510046" y="6304955"/>
            <a:ext cx="125157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이력 조회</a:t>
            </a:r>
            <a:endParaRPr lang="en-US" sz="1425" dirty="0"/>
          </a:p>
        </p:txBody>
      </p:sp>
      <p:sp>
        <p:nvSpPr>
          <p:cNvPr id="128" name="Shape 115"/>
          <p:cNvSpPr/>
          <p:nvPr/>
        </p:nvSpPr>
        <p:spPr>
          <a:xfrm>
            <a:off x="12081421" y="6674346"/>
            <a:ext cx="2522190" cy="1104156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/>
        </p:spPr>
      </p:sp>
      <p:sp>
        <p:nvSpPr>
          <p:cNvPr id="129" name="Text 116"/>
          <p:cNvSpPr/>
          <p:nvPr/>
        </p:nvSpPr>
        <p:spPr>
          <a:xfrm>
            <a:off x="12176671" y="6741021"/>
            <a:ext cx="2564859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spc="75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조회 → 결과</a:t>
            </a:r>
            <a:endParaRPr lang="en-US" sz="1125" dirty="0"/>
          </a:p>
        </p:txBody>
      </p:sp>
      <p:sp>
        <p:nvSpPr>
          <p:cNvPr id="130" name="Text 117"/>
          <p:cNvSpPr/>
          <p:nvPr/>
        </p:nvSpPr>
        <p:spPr>
          <a:xfrm>
            <a:off x="12176671" y="6976765"/>
            <a:ext cx="256485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556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eqp_history …</a:t>
            </a:r>
            <a:endParaRPr lang="en-US" sz="1050" dirty="0"/>
          </a:p>
        </p:txBody>
      </p:sp>
      <p:sp>
        <p:nvSpPr>
          <p:cNvPr id="131" name="Shape 118"/>
          <p:cNvSpPr/>
          <p:nvPr/>
        </p:nvSpPr>
        <p:spPr>
          <a:xfrm>
            <a:off x="12176671" y="7198668"/>
            <a:ext cx="2331690" cy="9525"/>
          </a:xfrm>
          <a:prstGeom prst="rect">
            <a:avLst/>
          </a:prstGeom>
          <a:solidFill>
            <a:srgbClr val="D7DEEA"/>
          </a:solidFill>
          <a:ln/>
        </p:spPr>
      </p:sp>
      <p:sp>
        <p:nvSpPr>
          <p:cNvPr id="132" name="Text 119"/>
          <p:cNvSpPr/>
          <p:nvPr/>
        </p:nvSpPr>
        <p:spPr>
          <a:xfrm>
            <a:off x="12176671" y="7236768"/>
            <a:ext cx="2407890" cy="51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07/26 02:14 </a:t>
            </a:r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PM </a:t>
            </a:r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Dose +0.4 · Focus 재보정 </a:t>
            </a:r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</a:t>
            </a:r>
            <a:endParaRPr lang="en-US" sz="1275" dirty="0"/>
          </a:p>
        </p:txBody>
      </p:sp>
      <p:sp>
        <p:nvSpPr>
          <p:cNvPr id="133" name="Text 120"/>
          <p:cNvSpPr/>
          <p:nvPr/>
        </p:nvSpPr>
        <p:spPr>
          <a:xfrm>
            <a:off x="12081421" y="8027640"/>
            <a:ext cx="2774409" cy="275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답변에: </a:t>
            </a:r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재보정 누락 = 원인 </a:t>
            </a:r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endParaRPr lang="en-US" sz="1275" dirty="0"/>
          </a:p>
        </p:txBody>
      </p:sp>
      <p:sp>
        <p:nvSpPr>
          <p:cNvPr id="134" name="Shape 121"/>
          <p:cNvSpPr/>
          <p:nvPr/>
        </p:nvSpPr>
        <p:spPr>
          <a:xfrm>
            <a:off x="14177070" y="6245721"/>
            <a:ext cx="455116" cy="226219"/>
          </a:xfrm>
          <a:prstGeom prst="roundRect">
            <a:avLst>
              <a:gd name="adj" fmla="val 21053"/>
            </a:avLst>
          </a:prstGeom>
          <a:solidFill>
            <a:srgbClr val="12B5B0"/>
          </a:solidFill>
          <a:ln/>
        </p:spPr>
      </p:sp>
      <p:sp>
        <p:nvSpPr>
          <p:cNvPr id="135" name="Text 122"/>
          <p:cNvSpPr/>
          <p:nvPr/>
        </p:nvSpPr>
        <p:spPr>
          <a:xfrm>
            <a:off x="14253270" y="6255246"/>
            <a:ext cx="34822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초</a:t>
            </a:r>
            <a:endParaRPr lang="en-US" sz="1125" dirty="0"/>
          </a:p>
        </p:txBody>
      </p:sp>
      <p:sp>
        <p:nvSpPr>
          <p:cNvPr id="136" name="Text 123"/>
          <p:cNvSpPr/>
          <p:nvPr/>
        </p:nvSpPr>
        <p:spPr>
          <a:xfrm>
            <a:off x="14679811" y="6159996"/>
            <a:ext cx="323850" cy="2248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500"/>
              </a:lnSpc>
              <a:buNone/>
            </a:pPr>
            <a:r>
              <a:rPr lang="en-US" sz="210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37" name="Shape 124"/>
          <p:cNvSpPr/>
          <p:nvPr/>
        </p:nvSpPr>
        <p:spPr>
          <a:xfrm>
            <a:off x="14965561" y="6159996"/>
            <a:ext cx="2750790" cy="2209949"/>
          </a:xfrm>
          <a:prstGeom prst="roundRect">
            <a:avLst>
              <a:gd name="adj" fmla="val 4310"/>
            </a:avLst>
          </a:prstGeom>
          <a:solidFill>
            <a:srgbClr val="0F1E3D"/>
          </a:solidFill>
          <a:ln/>
        </p:spPr>
      </p:sp>
      <p:sp>
        <p:nvSpPr>
          <p:cNvPr id="138" name="Shape 125"/>
          <p:cNvSpPr/>
          <p:nvPr/>
        </p:nvSpPr>
        <p:spPr>
          <a:xfrm>
            <a:off x="15079861" y="626477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pic>
        <p:nvPicPr>
          <p:cNvPr id="139" name="Image 11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5146536" y="6331446"/>
            <a:ext cx="209550" cy="209550"/>
          </a:xfrm>
          <a:prstGeom prst="rect">
            <a:avLst/>
          </a:prstGeom>
        </p:spPr>
      </p:pic>
      <p:sp>
        <p:nvSpPr>
          <p:cNvPr id="140" name="Text 126"/>
          <p:cNvSpPr/>
          <p:nvPr/>
        </p:nvSpPr>
        <p:spPr>
          <a:xfrm>
            <a:off x="15508486" y="6304955"/>
            <a:ext cx="1867287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보고서·조치 생성</a:t>
            </a:r>
            <a:endParaRPr lang="en-US" sz="1425" dirty="0"/>
          </a:p>
        </p:txBody>
      </p:sp>
      <p:sp>
        <p:nvSpPr>
          <p:cNvPr id="141" name="Shape 127"/>
          <p:cNvSpPr/>
          <p:nvPr/>
        </p:nvSpPr>
        <p:spPr>
          <a:xfrm>
            <a:off x="15079861" y="6674346"/>
            <a:ext cx="2522190" cy="841474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/>
        </p:spPr>
      </p:sp>
      <p:sp>
        <p:nvSpPr>
          <p:cNvPr id="142" name="Text 128"/>
          <p:cNvSpPr/>
          <p:nvPr/>
        </p:nvSpPr>
        <p:spPr>
          <a:xfrm>
            <a:off x="15175111" y="6741021"/>
            <a:ext cx="2564859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spc="75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보고서 · 자동 작성</a:t>
            </a:r>
            <a:endParaRPr lang="en-US" sz="1125" dirty="0"/>
          </a:p>
        </p:txBody>
      </p:sp>
      <p:sp>
        <p:nvSpPr>
          <p:cNvPr id="143" name="Text 129"/>
          <p:cNvSpPr/>
          <p:nvPr/>
        </p:nvSpPr>
        <p:spPr>
          <a:xfrm>
            <a:off x="15175111" y="6976765"/>
            <a:ext cx="240789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 </a:t>
            </a:r>
            <a:pPr algn="l" indent="0" marL="0">
              <a:lnSpc>
                <a:spcPct val="11900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후 재보정 누락 </a:t>
            </a:r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3종 인용 · 조치안 포함</a:t>
            </a:r>
            <a:endParaRPr lang="en-US" sz="1275" dirty="0"/>
          </a:p>
        </p:txBody>
      </p:sp>
      <p:sp>
        <p:nvSpPr>
          <p:cNvPr id="144" name="Text 130"/>
          <p:cNvSpPr/>
          <p:nvPr/>
        </p:nvSpPr>
        <p:spPr>
          <a:xfrm>
            <a:off x="15079861" y="8027640"/>
            <a:ext cx="2774409" cy="275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50"/>
              </a:lnSpc>
              <a:buNone/>
            </a:pPr>
            <a:r>
              <a:rPr lang="en-US" sz="1275" dirty="0">
                <a:solidFill>
                  <a:srgbClr val="D2D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답변에: </a:t>
            </a:r>
            <a:pPr algn="l" indent="0" marL="0">
              <a:lnSpc>
                <a:spcPct val="11475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결론+조치안</a:t>
            </a:r>
            <a:endParaRPr lang="en-US" sz="1275" dirty="0"/>
          </a:p>
        </p:txBody>
      </p:sp>
      <p:sp>
        <p:nvSpPr>
          <p:cNvPr id="145" name="Shape 131"/>
          <p:cNvSpPr/>
          <p:nvPr/>
        </p:nvSpPr>
        <p:spPr>
          <a:xfrm>
            <a:off x="17175510" y="6245721"/>
            <a:ext cx="455116" cy="226219"/>
          </a:xfrm>
          <a:prstGeom prst="roundRect">
            <a:avLst>
              <a:gd name="adj" fmla="val 21053"/>
            </a:avLst>
          </a:prstGeom>
          <a:solidFill>
            <a:srgbClr val="12B5B0"/>
          </a:solidFill>
          <a:ln/>
        </p:spPr>
      </p:sp>
      <p:sp>
        <p:nvSpPr>
          <p:cNvPr id="146" name="Text 132"/>
          <p:cNvSpPr/>
          <p:nvPr/>
        </p:nvSpPr>
        <p:spPr>
          <a:xfrm>
            <a:off x="17251710" y="6255246"/>
            <a:ext cx="348228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초</a:t>
            </a:r>
            <a:endParaRPr lang="en-US" sz="1125" dirty="0"/>
          </a:p>
        </p:txBody>
      </p:sp>
      <p:sp>
        <p:nvSpPr>
          <p:cNvPr id="147" name="Shape 133"/>
          <p:cNvSpPr/>
          <p:nvPr/>
        </p:nvSpPr>
        <p:spPr>
          <a:xfrm>
            <a:off x="2971800" y="8369945"/>
            <a:ext cx="1418630" cy="352425"/>
          </a:xfrm>
          <a:prstGeom prst="roundRect">
            <a:avLst>
              <a:gd name="adj" fmla="val 16216"/>
            </a:avLst>
          </a:prstGeom>
          <a:solidFill>
            <a:srgbClr val="12B5B0"/>
          </a:solidFill>
          <a:ln/>
        </p:spPr>
      </p:sp>
      <p:sp>
        <p:nvSpPr>
          <p:cNvPr id="148" name="Text 134"/>
          <p:cNvSpPr/>
          <p:nvPr/>
        </p:nvSpPr>
        <p:spPr>
          <a:xfrm>
            <a:off x="3124200" y="8408045"/>
            <a:ext cx="119003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판단 · 조치</a:t>
            </a:r>
            <a:endParaRPr lang="en-US" sz="1500" dirty="0"/>
          </a:p>
        </p:txBody>
      </p:sp>
      <p:sp>
        <p:nvSpPr>
          <p:cNvPr id="149" name="Text 135"/>
          <p:cNvSpPr/>
          <p:nvPr/>
        </p:nvSpPr>
        <p:spPr>
          <a:xfrm>
            <a:off x="4504730" y="8421886"/>
            <a:ext cx="4707017" cy="2866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5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통보 → 참고 공유 → 권고 → Hold → 기간시스템 직접 실행</a:t>
            </a:r>
            <a:endParaRPr lang="en-US" sz="1350" dirty="0"/>
          </a:p>
        </p:txBody>
      </p:sp>
      <p:sp>
        <p:nvSpPr>
          <p:cNvPr id="150" name="Shape 136"/>
          <p:cNvSpPr/>
          <p:nvPr/>
        </p:nvSpPr>
        <p:spPr>
          <a:xfrm>
            <a:off x="8898136" y="8541395"/>
            <a:ext cx="8818364" cy="9525"/>
          </a:xfrm>
          <a:prstGeom prst="rect">
            <a:avLst/>
          </a:prstGeom>
          <a:solidFill>
            <a:srgbClr val="D7DEEA"/>
          </a:solidFill>
          <a:ln/>
        </p:spPr>
      </p:sp>
      <p:sp>
        <p:nvSpPr>
          <p:cNvPr id="151" name="Shape 137"/>
          <p:cNvSpPr/>
          <p:nvPr/>
        </p:nvSpPr>
        <p:spPr>
          <a:xfrm>
            <a:off x="2971800" y="8798570"/>
            <a:ext cx="2750790" cy="893713"/>
          </a:xfrm>
          <a:prstGeom prst="roundRect">
            <a:avLst>
              <a:gd name="adj" fmla="val 10658"/>
            </a:avLst>
          </a:prstGeom>
          <a:ln w="9525">
            <a:solidFill>
              <a:srgbClr val="D7DEEA"/>
            </a:solidFill>
            <a:prstDash val="solid"/>
          </a:ln>
        </p:spPr>
      </p:sp>
      <p:sp>
        <p:nvSpPr>
          <p:cNvPr id="152" name="Text 138"/>
          <p:cNvSpPr/>
          <p:nvPr/>
        </p:nvSpPr>
        <p:spPr>
          <a:xfrm>
            <a:off x="3095625" y="8884295"/>
            <a:ext cx="717203" cy="2728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708"/>
              </a:lnSpc>
              <a:buNone/>
            </a:pPr>
            <a:r>
              <a:rPr lang="en-US" sz="12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통보</a:t>
            </a:r>
            <a:endParaRPr lang="en-US" sz="1275" dirty="0"/>
          </a:p>
        </p:txBody>
      </p:sp>
      <p:sp>
        <p:nvSpPr>
          <p:cNvPr id="153" name="Text 139"/>
          <p:cNvSpPr/>
          <p:nvPr/>
        </p:nvSpPr>
        <p:spPr>
          <a:xfrm>
            <a:off x="4741515" y="8925371"/>
            <a:ext cx="93345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C2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○○○○</a:t>
            </a:r>
            <a:endParaRPr lang="en-US" sz="1200" dirty="0"/>
          </a:p>
        </p:txBody>
      </p:sp>
      <p:sp>
        <p:nvSpPr>
          <p:cNvPr id="154" name="Text 140"/>
          <p:cNvSpPr/>
          <p:nvPr/>
        </p:nvSpPr>
        <p:spPr>
          <a:xfrm>
            <a:off x="3095625" y="9147572"/>
            <a:ext cx="2753454" cy="267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00"/>
              </a:lnSpc>
              <a:buNone/>
            </a:pPr>
            <a:r>
              <a:rPr lang="en-US" sz="127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"CD 급등 발생" </a:t>
            </a:r>
            <a:pPr algn="l" indent="0" marL="0">
              <a:lnSpc>
                <a:spcPct val="11050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알림만</a:t>
            </a:r>
            <a:endParaRPr lang="en-US" sz="1275" dirty="0"/>
          </a:p>
        </p:txBody>
      </p:sp>
      <p:sp>
        <p:nvSpPr>
          <p:cNvPr id="155" name="Text 141"/>
          <p:cNvSpPr/>
          <p:nvPr/>
        </p:nvSpPr>
        <p:spPr>
          <a:xfrm>
            <a:off x="5684490" y="8798570"/>
            <a:ext cx="323850" cy="93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500"/>
              </a:lnSpc>
              <a:buNone/>
            </a:pPr>
            <a:r>
              <a:rPr lang="en-US" sz="210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6" name="Shape 142"/>
          <p:cNvSpPr/>
          <p:nvPr/>
        </p:nvSpPr>
        <p:spPr>
          <a:xfrm>
            <a:off x="5970240" y="8798570"/>
            <a:ext cx="2750790" cy="893713"/>
          </a:xfrm>
          <a:prstGeom prst="roundRect">
            <a:avLst>
              <a:gd name="adj" fmla="val 10658"/>
            </a:avLst>
          </a:prstGeom>
          <a:ln w="9525">
            <a:solidFill>
              <a:srgbClr val="D7DEEA"/>
            </a:solidFill>
            <a:prstDash val="solid"/>
          </a:ln>
        </p:spPr>
      </p:sp>
      <p:sp>
        <p:nvSpPr>
          <p:cNvPr id="157" name="Text 143"/>
          <p:cNvSpPr/>
          <p:nvPr/>
        </p:nvSpPr>
        <p:spPr>
          <a:xfrm>
            <a:off x="6094065" y="8884295"/>
            <a:ext cx="717203" cy="2728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708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공유</a:t>
            </a:r>
            <a:endParaRPr lang="en-US" sz="1275" dirty="0"/>
          </a:p>
        </p:txBody>
      </p:sp>
      <p:sp>
        <p:nvSpPr>
          <p:cNvPr id="158" name="Text 144"/>
          <p:cNvSpPr/>
          <p:nvPr/>
        </p:nvSpPr>
        <p:spPr>
          <a:xfrm>
            <a:off x="7739955" y="8925371"/>
            <a:ext cx="93345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</a:t>
            </a:r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C2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○○○</a:t>
            </a:r>
            <a:endParaRPr lang="en-US" sz="1200" dirty="0"/>
          </a:p>
        </p:txBody>
      </p:sp>
      <p:sp>
        <p:nvSpPr>
          <p:cNvPr id="159" name="Text 145"/>
          <p:cNvSpPr/>
          <p:nvPr/>
        </p:nvSpPr>
        <p:spPr>
          <a:xfrm>
            <a:off x="6094065" y="9147572"/>
            <a:ext cx="2753454" cy="267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00"/>
              </a:lnSpc>
              <a:buNone/>
            </a:pPr>
            <a:r>
              <a:rPr lang="en-US" sz="127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유형(edge 집중) </a:t>
            </a:r>
            <a:pPr algn="l" indent="0" marL="0">
              <a:lnSpc>
                <a:spcPct val="11050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통보</a:t>
            </a:r>
            <a:endParaRPr lang="en-US" sz="1275" dirty="0"/>
          </a:p>
        </p:txBody>
      </p:sp>
      <p:sp>
        <p:nvSpPr>
          <p:cNvPr id="160" name="Text 146"/>
          <p:cNvSpPr/>
          <p:nvPr/>
        </p:nvSpPr>
        <p:spPr>
          <a:xfrm>
            <a:off x="8682930" y="8798570"/>
            <a:ext cx="323850" cy="93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500"/>
              </a:lnSpc>
              <a:buNone/>
            </a:pPr>
            <a:r>
              <a:rPr lang="en-US" sz="210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61" name="Shape 147"/>
          <p:cNvSpPr/>
          <p:nvPr/>
        </p:nvSpPr>
        <p:spPr>
          <a:xfrm>
            <a:off x="8968680" y="8798570"/>
            <a:ext cx="2750790" cy="893713"/>
          </a:xfrm>
          <a:prstGeom prst="roundRect">
            <a:avLst>
              <a:gd name="adj" fmla="val 10658"/>
            </a:avLst>
          </a:prstGeom>
          <a:ln w="9525">
            <a:solidFill>
              <a:srgbClr val="D7DEEA"/>
            </a:solidFill>
            <a:prstDash val="solid"/>
          </a:ln>
        </p:spPr>
      </p:sp>
      <p:sp>
        <p:nvSpPr>
          <p:cNvPr id="162" name="Text 148"/>
          <p:cNvSpPr/>
          <p:nvPr/>
        </p:nvSpPr>
        <p:spPr>
          <a:xfrm>
            <a:off x="9092505" y="8884295"/>
            <a:ext cx="1266974" cy="2728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708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간단 조치 — 권고</a:t>
            </a:r>
            <a:endParaRPr lang="en-US" sz="1275" dirty="0"/>
          </a:p>
        </p:txBody>
      </p:sp>
      <p:sp>
        <p:nvSpPr>
          <p:cNvPr id="163" name="Text 149"/>
          <p:cNvSpPr/>
          <p:nvPr/>
        </p:nvSpPr>
        <p:spPr>
          <a:xfrm>
            <a:off x="10738396" y="8925371"/>
            <a:ext cx="93345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</a:t>
            </a:r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C2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○○</a:t>
            </a:r>
            <a:endParaRPr lang="en-US" sz="1200" dirty="0"/>
          </a:p>
        </p:txBody>
      </p:sp>
      <p:sp>
        <p:nvSpPr>
          <p:cNvPr id="164" name="Text 150"/>
          <p:cNvSpPr/>
          <p:nvPr/>
        </p:nvSpPr>
        <p:spPr>
          <a:xfrm>
            <a:off x="9092505" y="9147572"/>
            <a:ext cx="2753454" cy="267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00"/>
              </a:lnSpc>
              <a:buNone/>
            </a:pPr>
            <a:r>
              <a:rPr lang="en-US" sz="127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노광계 </a:t>
            </a:r>
            <a:pPr algn="l" indent="0" marL="0">
              <a:lnSpc>
                <a:spcPct val="11050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 점검 권고 </a:t>
            </a:r>
            <a:pPr algn="l" indent="0" marL="0">
              <a:lnSpc>
                <a:spcPct val="110500"/>
              </a:lnSpc>
              <a:buNone/>
            </a:pPr>
            <a:r>
              <a:rPr lang="en-US" sz="127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메일</a:t>
            </a:r>
            <a:endParaRPr lang="en-US" sz="1275" dirty="0"/>
          </a:p>
        </p:txBody>
      </p:sp>
      <p:sp>
        <p:nvSpPr>
          <p:cNvPr id="165" name="Text 151"/>
          <p:cNvSpPr/>
          <p:nvPr/>
        </p:nvSpPr>
        <p:spPr>
          <a:xfrm>
            <a:off x="11681371" y="8798570"/>
            <a:ext cx="323850" cy="93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500"/>
              </a:lnSpc>
              <a:buNone/>
            </a:pPr>
            <a:r>
              <a:rPr lang="en-US" sz="210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66" name="Shape 152"/>
          <p:cNvSpPr/>
          <p:nvPr/>
        </p:nvSpPr>
        <p:spPr>
          <a:xfrm>
            <a:off x="11967121" y="8798570"/>
            <a:ext cx="2750790" cy="893713"/>
          </a:xfrm>
          <a:prstGeom prst="roundRect">
            <a:avLst>
              <a:gd name="adj" fmla="val 10658"/>
            </a:avLst>
          </a:prstGeom>
          <a:ln w="9525">
            <a:solidFill>
              <a:srgbClr val="D7DEEA"/>
            </a:solidFill>
            <a:prstDash val="solid"/>
          </a:ln>
        </p:spPr>
      </p:sp>
      <p:sp>
        <p:nvSpPr>
          <p:cNvPr id="167" name="Text 153"/>
          <p:cNvSpPr/>
          <p:nvPr/>
        </p:nvSpPr>
        <p:spPr>
          <a:xfrm>
            <a:off x="12090946" y="8884295"/>
            <a:ext cx="1348487" cy="2728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708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 조치 — Hold</a:t>
            </a:r>
            <a:endParaRPr lang="en-US" sz="1275" dirty="0"/>
          </a:p>
        </p:txBody>
      </p:sp>
      <p:sp>
        <p:nvSpPr>
          <p:cNvPr id="168" name="Text 154"/>
          <p:cNvSpPr/>
          <p:nvPr/>
        </p:nvSpPr>
        <p:spPr>
          <a:xfrm>
            <a:off x="13736836" y="8925371"/>
            <a:ext cx="93345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C2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169" name="Text 155"/>
          <p:cNvSpPr/>
          <p:nvPr/>
        </p:nvSpPr>
        <p:spPr>
          <a:xfrm>
            <a:off x="12090946" y="9147572"/>
            <a:ext cx="2753454" cy="267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00"/>
              </a:lnSpc>
              <a:buNone/>
            </a:pPr>
            <a:r>
              <a:rPr lang="en-US" sz="127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lot </a:t>
            </a:r>
            <a:pPr algn="l" indent="0" marL="0">
              <a:lnSpc>
                <a:spcPct val="11050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</a:t>
            </a:r>
            <a:pPr algn="l" indent="0" marL="0">
              <a:lnSpc>
                <a:spcPct val="110500"/>
              </a:lnSpc>
              <a:buNone/>
            </a:pPr>
            <a:r>
              <a:rPr lang="en-US" sz="1275" dirty="0">
                <a:solidFill>
                  <a:srgbClr val="3A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점검 요청</a:t>
            </a:r>
            <a:endParaRPr lang="en-US" sz="1275" dirty="0"/>
          </a:p>
        </p:txBody>
      </p:sp>
      <p:sp>
        <p:nvSpPr>
          <p:cNvPr id="170" name="Text 156"/>
          <p:cNvSpPr/>
          <p:nvPr/>
        </p:nvSpPr>
        <p:spPr>
          <a:xfrm>
            <a:off x="14679811" y="8798570"/>
            <a:ext cx="323850" cy="93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1500"/>
              </a:lnSpc>
              <a:buNone/>
            </a:pPr>
            <a:r>
              <a:rPr lang="en-US" sz="2100" b="1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71" name="Shape 157"/>
          <p:cNvSpPr/>
          <p:nvPr/>
        </p:nvSpPr>
        <p:spPr>
          <a:xfrm>
            <a:off x="14965561" y="8798570"/>
            <a:ext cx="2750790" cy="893713"/>
          </a:xfrm>
          <a:prstGeom prst="roundRect">
            <a:avLst>
              <a:gd name="adj" fmla="val 10658"/>
            </a:avLst>
          </a:prstGeom>
          <a:solidFill>
            <a:srgbClr val="E6F7F6"/>
          </a:solidFill>
          <a:ln/>
        </p:spPr>
      </p:sp>
      <p:sp>
        <p:nvSpPr>
          <p:cNvPr id="172" name="Shape 158"/>
          <p:cNvSpPr/>
          <p:nvPr/>
        </p:nvSpPr>
        <p:spPr>
          <a:xfrm>
            <a:off x="14965561" y="9682758"/>
            <a:ext cx="2750790" cy="9525"/>
          </a:xfrm>
          <a:prstGeom prst="rect">
            <a:avLst/>
          </a:prstGeom>
          <a:solidFill>
            <a:srgbClr val="BFE6E4"/>
          </a:solidFill>
          <a:ln/>
        </p:spPr>
      </p:sp>
      <p:sp>
        <p:nvSpPr>
          <p:cNvPr id="173" name="Shape 159"/>
          <p:cNvSpPr/>
          <p:nvPr/>
        </p:nvSpPr>
        <p:spPr>
          <a:xfrm>
            <a:off x="14965561" y="8798570"/>
            <a:ext cx="2750790" cy="9525"/>
          </a:xfrm>
          <a:prstGeom prst="rect">
            <a:avLst/>
          </a:prstGeom>
          <a:solidFill>
            <a:srgbClr val="BFE6E4"/>
          </a:solidFill>
          <a:ln/>
        </p:spPr>
      </p:sp>
      <p:sp>
        <p:nvSpPr>
          <p:cNvPr id="174" name="Shape 160"/>
          <p:cNvSpPr/>
          <p:nvPr/>
        </p:nvSpPr>
        <p:spPr>
          <a:xfrm>
            <a:off x="14965561" y="8798570"/>
            <a:ext cx="85725" cy="893713"/>
          </a:xfrm>
          <a:prstGeom prst="rect">
            <a:avLst/>
          </a:prstGeom>
          <a:solidFill>
            <a:srgbClr val="12B5B0"/>
          </a:solidFill>
          <a:ln/>
        </p:spPr>
      </p:sp>
      <p:sp>
        <p:nvSpPr>
          <p:cNvPr id="175" name="Shape 161"/>
          <p:cNvSpPr/>
          <p:nvPr/>
        </p:nvSpPr>
        <p:spPr>
          <a:xfrm>
            <a:off x="17706826" y="8798570"/>
            <a:ext cx="9525" cy="893713"/>
          </a:xfrm>
          <a:prstGeom prst="rect">
            <a:avLst/>
          </a:prstGeom>
          <a:solidFill>
            <a:srgbClr val="BFE6E4"/>
          </a:solidFill>
          <a:ln/>
        </p:spPr>
      </p:sp>
      <p:sp>
        <p:nvSpPr>
          <p:cNvPr id="176" name="Text 162"/>
          <p:cNvSpPr/>
          <p:nvPr/>
        </p:nvSpPr>
        <p:spPr>
          <a:xfrm>
            <a:off x="15165586" y="8884295"/>
            <a:ext cx="1613044" cy="2728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708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결론 + 직접 실행</a:t>
            </a:r>
            <a:endParaRPr lang="en-US" sz="1275" dirty="0"/>
          </a:p>
        </p:txBody>
      </p:sp>
      <p:sp>
        <p:nvSpPr>
          <p:cNvPr id="177" name="Text 163"/>
          <p:cNvSpPr/>
          <p:nvPr/>
        </p:nvSpPr>
        <p:spPr>
          <a:xfrm>
            <a:off x="16735276" y="8925371"/>
            <a:ext cx="93345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200" spc="150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●●●●●</a:t>
            </a:r>
            <a:endParaRPr lang="en-US" sz="1200" dirty="0"/>
          </a:p>
        </p:txBody>
      </p:sp>
      <p:sp>
        <p:nvSpPr>
          <p:cNvPr id="178" name="Shape 164"/>
          <p:cNvSpPr/>
          <p:nvPr/>
        </p:nvSpPr>
        <p:spPr>
          <a:xfrm>
            <a:off x="15165586" y="9176147"/>
            <a:ext cx="789087" cy="180975"/>
          </a:xfrm>
          <a:prstGeom prst="roundRect">
            <a:avLst>
              <a:gd name="adj" fmla="val 21053"/>
            </a:avLst>
          </a:prstGeom>
          <a:solidFill>
            <a:srgbClr val="F2B705"/>
          </a:solidFill>
          <a:ln/>
        </p:spPr>
      </p:sp>
      <p:sp>
        <p:nvSpPr>
          <p:cNvPr id="179" name="Text 165"/>
          <p:cNvSpPr/>
          <p:nvPr/>
        </p:nvSpPr>
        <p:spPr>
          <a:xfrm>
            <a:off x="15213211" y="9176147"/>
            <a:ext cx="77274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83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접속</a:t>
            </a:r>
            <a:endParaRPr lang="en-US" sz="1275" dirty="0"/>
          </a:p>
        </p:txBody>
      </p:sp>
      <p:sp>
        <p:nvSpPr>
          <p:cNvPr id="180" name="Text 166"/>
          <p:cNvSpPr/>
          <p:nvPr/>
        </p:nvSpPr>
        <p:spPr>
          <a:xfrm>
            <a:off x="15165586" y="9176147"/>
            <a:ext cx="2435275" cy="448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00"/>
              </a:lnSpc>
              <a:buNone/>
            </a:pPr>
            <a:r>
              <a:rPr lang="en-US" sz="1275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인터락 · 조치 코드 · 보고서</a:t>
            </a:r>
            <a:endParaRPr lang="en-US" sz="1275" dirty="0"/>
          </a:p>
        </p:txBody>
      </p:sp>
      <p:sp>
        <p:nvSpPr>
          <p:cNvPr id="181" name="Text 167"/>
          <p:cNvSpPr/>
          <p:nvPr/>
        </p:nvSpPr>
        <p:spPr>
          <a:xfrm>
            <a:off x="571500" y="9744075"/>
            <a:ext cx="66397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품질 이상감지 Agent </a:t>
            </a:r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엔지니어 수작업 → AI Tool 대체 → 조치 실행</a:t>
            </a:r>
            <a:endParaRPr lang="en-US" sz="1500" dirty="0"/>
          </a:p>
        </p:txBody>
      </p:sp>
      <p:sp>
        <p:nvSpPr>
          <p:cNvPr id="182" name="Text 168"/>
          <p:cNvSpPr/>
          <p:nvPr/>
        </p:nvSpPr>
        <p:spPr>
          <a:xfrm>
            <a:off x="17505015" y="9753600"/>
            <a:ext cx="2876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2026-07-29T00:58:24Z</dcterms:created>
  <dcterms:modified xsi:type="dcterms:W3CDTF">2026-07-29T00:58:24Z</dcterms:modified>
</cp:coreProperties>
</file>