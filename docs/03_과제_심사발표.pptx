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263A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5B7891"/>
              </a:solidFill>
              <a:effectLst/>
            </c:spPr>
          </c:dPt>
          <c:dPt>
            <c:idx val="3"/>
            <c:bubble3D val="0"/>
            <c:spPr>
              <a:solidFill>
                <a:srgbClr val="C9D6E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판단 LLM 서빙 12장</c:v>
                </c:pt>
                <c:pt idx="1">
                  <c:v>고정밀 VLM 5장</c:v>
                </c:pt>
                <c:pt idx="2">
                  <c:v>경량 VLM·검색기 2장</c:v>
                </c:pt>
                <c:pt idx="3">
                  <c:v>회귀평가 1장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(배)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8F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7A5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789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2.0시간</c:v>
                  </c:pt>
                  <c:pt idx="1">
                    <c:v>2.5시간</c:v>
                  </c:pt>
                  <c:pt idx="2">
                    <c:v>3.0시간</c:v>
                  </c:pt>
                  <c:pt idx="3">
                    <c:v>3.5시간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57.5</c:v>
                </c:pt>
                <c:pt idx="1">
                  <c:v>43.1</c:v>
                </c:pt>
                <c:pt idx="2">
                  <c:v>28.8</c:v>
                </c:pt>
                <c:pt idx="3">
                  <c:v>14.4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6E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지원서 발표 표지. 핵심 숫자 네 개만 먼저 각인시키고 본론으로 넘어간다. 기대효과·ROI 산정 근거는 12번 슬라이드에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여기서 '사람이 느리다'가 아니라 '흩어진 시스템을 사람이 이어붙이는 구조가 느리다'로 프레임을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대체 불가 논거. 심사에서 '사내 것 쓰면 되지 않나'가 가장 먼저 나오는 질문이라 두 번째 슬라이드 다음에 바로 배치했다.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 슬라이드. 핵심은 '자동화가 별도 개발이 아니다'라는 점 — 이게 일정과 비용 모두를 방어하는 논거다.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슬라이드. 3번 judgment 칸만 앰버로 강조한 이유는 이 시스템의 안전성이 전부 거기서 결정되기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차별화. 심사위원이 '요즘 다 하는 것 아니냐'고 물을 때 답이 되는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안전성 슬라이드. 품질 조직 심사에서 가장 오래 붙잡히는 부분이므로 두 겹 구조를 한 화면에 같이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슬라이드. '계산은 시스템, 연결은 LLM' 원칙이 실제 도구 목록으로 어떻게 나타나는지를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 과정 Ablation. 가로가 로드맵, 세로가 그 시점의 실력. 심사에서 '단계별로 뭘 얻나'를 한 화면으로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일정. 오른쪽 열(통과 조건)이 핵심 — 일정을 기간이 아니라 검증으로 관리한다는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자원 슬라이드. GPU 20장이 어디에 쓰이는지가 심사 질문 1순위라 배분을 도넛으로 먼저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 슬라이드. 민감도를 같이 보여주는 이유는 '4시간→2시간이 너무 낙관적 아니냐'는 질문을 미리 받아치기 위해서다. 3.5시간까지만 줄어도 ROI 14배다.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슬라이드. R1(도구 호출)과 R5(잘못된 조치)만 붉게 강조 — 나머지는 일정으로 흡수 가능한 리스크다.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이 과제가 아이디어 단계가 아니라 실행 직전 단계라는 점을 마지막으로 각인시킨다. 착수 전 필요한 네 가지가 심사 후 액션 아이템이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669280" cy="5669280"/>
          </a:xfrm>
          <a:prstGeom prst="ellipse">
            <a:avLst/>
          </a:prstGeom>
          <a:solidFill>
            <a:srgbClr val="243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023360"/>
            <a:ext cx="3108960" cy="3108960"/>
          </a:xfrm>
          <a:prstGeom prst="ellipse">
            <a:avLst/>
          </a:prstGeom>
          <a:solidFill>
            <a:srgbClr val="243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704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제 지 원 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 품질 이상감지·판단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Orchestration 구축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→ 판단 → 조치까지 스스로 수행하는 살아있는 품질 관리 시스템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411480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4261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1,000명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49808" y="4773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 엔지니어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411480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4261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200억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547872" y="4773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(원/년)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411480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4261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57.5배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45936" y="4773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411480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4261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144000" y="4773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기간(제안)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5961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제조기술센터 품질·공정 ◇     ·     작성일 2026-08-07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불량 하나를 판단하려면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 트렌드 · wafer map · 결함 이미지 · Inform Note · 기준정보 — 서로 다른 시스템을 하나씩 열어 대조한다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61488" y="1783080"/>
            <a:ext cx="8497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사이를 오가며 화면을 열고 손으로 대조하는 데 판정 시간의 대부분이 쓰인다. 정작 판단에 쓰는 시간은 그 일부다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53512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8620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61488" y="2862072"/>
            <a:ext cx="8497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현상을 놓고도 사람에 따라 결론이 다르다. 무엇을 봤고 무엇을 안 봤는지가 사람마다 다르기 때문이다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3250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61488" y="3941064"/>
            <a:ext cx="8497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야간과 주말에는 대응이 다음 근무까지 밀린다. 그 사이 같은 원인의 불량이 계속 생산된다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864608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5111496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111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502005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61488" y="5020056"/>
            <a:ext cx="8497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판단했는지가 사람 머릿속에 남고 시스템에 쌓이지 않는다. 담당자가 바뀌면 처음부터 다시 푼다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가지는 사람이 더 열심히 해서 해결되는 종류가 아니다 — 구조의 문제다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있는 것으로는 왜 안 되나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대안을 모두 검토했고, 각각 어디서 막히는지 확인했다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82616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938528"/>
            <a:ext cx="483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LLM API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" y="2450592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DB 조회·이미지 판독을 못 한다. 검색기 파인튜닝·선호학습·에이전트 토큰 구조를 제공하지 않아 우리 데이터로 정확해지는 경로 자체가 없다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6312" y="1920240"/>
            <a:ext cx="384048" cy="384048"/>
          </a:xfrm>
          <a:prstGeom prst="ellipse">
            <a:avLst/>
          </a:prstGeom>
          <a:solidFill>
            <a:srgbClr val="FB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631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2152" y="1664208"/>
            <a:ext cx="5382616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4760" y="1938528"/>
            <a:ext cx="483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공용 RAG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4760" y="2450592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병기(ACI → 세정 후 계측), 설비 ID 토큰 보호(PHO-D03 통짜), 한국어 형태소 색인, 메타 필터, 리랭커 교체, recall 지표 열람이 모두 막혀 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11535" y="1920240"/>
            <a:ext cx="384048" cy="384048"/>
          </a:xfrm>
          <a:prstGeom prst="ellipse">
            <a:avLst/>
          </a:prstGeom>
          <a:solidFill>
            <a:srgbClr val="FB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11535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5382616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" y="4114800"/>
            <a:ext cx="483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· 대시보드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9536" y="4626864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봐야 할 화면을 늘릴 뿐, 판단을 대신하지 않는다. 화면이 늘수록 대조할 것이 늘어난다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36312" y="4096512"/>
            <a:ext cx="384048" cy="384048"/>
          </a:xfrm>
          <a:prstGeom prst="ellipse">
            <a:avLst/>
          </a:prstGeom>
          <a:solidFill>
            <a:srgbClr val="FB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631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2152" y="3840480"/>
            <a:ext cx="5382616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4760" y="4114800"/>
            <a:ext cx="483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 SPC 알람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4760" y="4626864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이상이다까지는 알려준다. 왜 그런가, 무엇을 해야 하나에는 답하지 않는다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11535" y="4096512"/>
            <a:ext cx="384048" cy="384048"/>
          </a:xfrm>
          <a:prstGeom prst="ellipse">
            <a:avLst/>
          </a:prstGeom>
          <a:solidFill>
            <a:srgbClr val="FB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11535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막히는 지점이 서로 다르다 — 하나를 고쳐 다른 하나를 대신할 수 없다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만드는가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1057839" cy="1280160"/>
          </a:xfrm>
          <a:prstGeom prst="roundRect">
            <a:avLst>
              <a:gd name="adj" fmla="val 6429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50976" y="1664208"/>
            <a:ext cx="10289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→ 판단 → 조치까지 스스로 하되,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0976" y="2084832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판단은 근거를 인용하고, 현장 조치는 반드시 사람 승인을 거친다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30540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입구는 둘, 코어는 하나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3529584"/>
            <a:ext cx="5364328" cy="1938528"/>
          </a:xfrm>
          <a:prstGeom prst="roundRect">
            <a:avLst>
              <a:gd name="adj" fmla="val 4245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37673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3749040"/>
            <a:ext cx="426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7824" y="4261104"/>
            <a:ext cx="474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엔지니어가 직접 묻는다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4626864"/>
            <a:ext cx="4742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"GATE ACI CD +0.9 올랐어.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문제고 어떻게 조치?"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0440" y="3529584"/>
            <a:ext cx="5364328" cy="1938528"/>
          </a:xfrm>
          <a:prstGeom prst="roundRect">
            <a:avLst>
              <a:gd name="adj" fmla="val 4245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71336" y="37673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1336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9976" y="3749040"/>
            <a:ext cx="426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감시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71336" y="4261104"/>
            <a:ext cx="474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 스스로 묻는다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71336" y="4626864"/>
            <a:ext cx="4742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 이벤트를 질문 문장으로 바꿔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코어에 넣는다 (24/7)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Chat에서 엔지니어가 신뢰한 분석 능력이, 어댑터 하나만 붙이면 그대로 무인 감시의 능력이 된다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사건이 흐르는 경로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들어와 판단서와 조치가 되어 나가기까지, 그리고 그 결과가 다시 자산이 되기까지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1721053" cy="1591056"/>
          </a:xfrm>
          <a:prstGeom prst="roundRect">
            <a:avLst>
              <a:gd name="adj" fmla="val 517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5431" y="2377440"/>
            <a:ext cx="384048" cy="384048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5431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834640"/>
            <a:ext cx="161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adapter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145536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분류 →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조사규칙 로드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4285" y="2212848"/>
            <a:ext cx="1721053" cy="1591056"/>
          </a:xfrm>
          <a:prstGeom prst="roundRect">
            <a:avLst>
              <a:gd name="adj" fmla="val 517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2788" y="2377440"/>
            <a:ext cx="384048" cy="384048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27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9149" y="2834640"/>
            <a:ext cx="161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investigator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07437" y="3145536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루프 —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골라 반복 호출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1642" y="2212848"/>
            <a:ext cx="1721053" cy="1591056"/>
          </a:xfrm>
          <a:prstGeom prst="roundRect">
            <a:avLst>
              <a:gd name="adj" fmla="val 5172"/>
            </a:avLst>
          </a:prstGeom>
          <a:solidFill>
            <a:srgbClr val="FBF1E0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70145" y="237744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0145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56506" y="2834640"/>
            <a:ext cx="161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4794" y="3145536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증거팩 → 판단서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검증기 5칙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9000" y="2212848"/>
            <a:ext cx="1721053" cy="1591056"/>
          </a:xfrm>
          <a:prstGeom prst="roundRect">
            <a:avLst>
              <a:gd name="adj" fmla="val 517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7502" y="2377440"/>
            <a:ext cx="384048" cy="384048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750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23864" y="2834640"/>
            <a:ext cx="161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42152" y="3145536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결정 →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L2는 승인 대기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36357" y="2212848"/>
            <a:ext cx="1721053" cy="1591056"/>
          </a:xfrm>
          <a:prstGeom prst="roundRect">
            <a:avLst>
              <a:gd name="adj" fmla="val 517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04859" y="2377440"/>
            <a:ext cx="384048" cy="384048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4859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91221" y="2834640"/>
            <a:ext cx="161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09509" y="3145536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통과분만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렌더링 ([EV-n])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03714" y="2212848"/>
            <a:ext cx="1721053" cy="1591056"/>
          </a:xfrm>
          <a:prstGeom prst="roundRect">
            <a:avLst>
              <a:gd name="adj" fmla="val 517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72217" y="2377440"/>
            <a:ext cx="384048" cy="384048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72217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58578" y="2834640"/>
            <a:ext cx="161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976866" y="3145536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 Note 초안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현업 확정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1591056"/>
            <a:ext cx="5437480" cy="512064"/>
          </a:xfrm>
          <a:prstGeom prst="roundRect">
            <a:avLst>
              <a:gd name="adj" fmla="val 1607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1591056"/>
            <a:ext cx="498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  ·  엔지니어가 묻는다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87288" y="1591056"/>
            <a:ext cx="5437480" cy="512064"/>
          </a:xfrm>
          <a:prstGeom prst="roundRect">
            <a:avLst>
              <a:gd name="adj" fmla="val 1607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43320" y="1591056"/>
            <a:ext cx="498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 ·  감지 이벤트를 질문으로 변환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" y="4059936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8096" y="4279392"/>
            <a:ext cx="1042416" cy="402336"/>
          </a:xfrm>
          <a:prstGeom prst="roundRect">
            <a:avLst>
              <a:gd name="adj" fmla="val 18182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4279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가져온다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9339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기간시스템 조회 전용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993392" y="4498848"/>
            <a:ext cx="93204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 · MES · YMS · EES · QMS  +  vision CNN  +  RAG(벡터+키워드)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4992624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8096" y="5212080"/>
            <a:ext cx="1042416" cy="402336"/>
          </a:xfrm>
          <a:prstGeom prst="roundRect">
            <a:avLst>
              <a:gd name="adj" fmla="val 18182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" y="5212080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쌓인다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993392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현업이 등록하는 지식 자산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993392" y="5431536"/>
            <a:ext cx="93204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확정된 Inform Note · 조사규칙 문서 · 이미지 — 등록된 것만 AI가 검색해 쓴다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등록을 낳고 등록이 다음 판단을 좋게 만든다 — 등록이 멈추면 시스템은 자라지 않는다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접근과 무엇이 다른가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설계 선택이 이 시스템의 성격을 결정한다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3539642" cy="3913632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93392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688336"/>
            <a:ext cx="29178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자동화가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개발이 아니다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3675888"/>
            <a:ext cx="291785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코어를 Chat과 무인이 공유한다. 파일럿에서 검증한 능력이 어댑터 하나로 24시간 감시가 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" y="4956048"/>
            <a:ext cx="3100730" cy="54864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4956048"/>
            <a:ext cx="2808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2에서 분석 로직을 다시 만들지 않는다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6026" y="1719072"/>
            <a:ext cx="3539642" cy="3913632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922" y="1993392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922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922" y="2688336"/>
            <a:ext cx="29178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환각의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발생원을 없앴다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36922" y="3675888"/>
            <a:ext cx="291785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통계·공통성 분석·map 분류·SQL은 전부 코드가 한다. LLM에게는 결과만 넘긴다.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45482" y="4956048"/>
            <a:ext cx="3100730" cy="54864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1786" y="4956048"/>
            <a:ext cx="2808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숫자를 지어낼 자리가 구조적으로 없다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1719072"/>
            <a:ext cx="3539642" cy="3913632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96021" y="1993392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6021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96021" y="2688336"/>
            <a:ext cx="29178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그럴듯한 오답이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채택되지 않는다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96021" y="3675888"/>
            <a:ext cx="291785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판단서는 근거 인용을 강제하고, 검증기 5칙이 코드로 검사한다. 계속 실패하면 판단 불가로 강등한다.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04581" y="4956048"/>
            <a:ext cx="3100730" cy="54864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0885" y="4956048"/>
            <a:ext cx="2808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품질에서 그럴듯한 오답은 무응답보다 위험하다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 '나중에 붙이는 안전장치'가 아니라 처음부터 구조에 박아 넣은 것이다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판단이 조치로 이어지지 않게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단계에서 한 번, 조치 단계에서 또 한 번 — 두 겹으로 막는다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682496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검증기 5칙 (코드가 검사한다)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4604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21992"/>
            <a:ext cx="365760" cy="365760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21214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78608" y="2121408"/>
            <a:ext cx="324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형식이 아니면 거부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779776"/>
            <a:ext cx="534604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7797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실재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779776"/>
            <a:ext cx="324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증거를 인용하면 거부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438144"/>
            <a:ext cx="534604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538728"/>
            <a:ext cx="365760" cy="365760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4381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 대조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78608" y="3438144"/>
            <a:ext cx="324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원문에 없는 수치를 쓰면 거부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096512"/>
            <a:ext cx="534604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97096"/>
            <a:ext cx="365760" cy="365760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40965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규칙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4096512"/>
            <a:ext cx="324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High는 근거 3개 이상·반증 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534604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855464"/>
            <a:ext cx="365760" cy="365760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07008" y="4754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공백 금지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78608" y="4754880"/>
            <a:ext cx="324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가설이 없으면 부족한 정보를 명시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468112"/>
            <a:ext cx="534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오류를 붙여 재생성. 계속 실패하면 '판단 불가 · 사람 검토'로 강등한다.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78728" y="1682496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— 등급표 + 권한별 승인 (LLM 아님)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78728" y="2121408"/>
            <a:ext cx="5346040" cy="731520"/>
          </a:xfrm>
          <a:prstGeom prst="roundRect">
            <a:avLst>
              <a:gd name="adj" fmla="val 1125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43320" y="230428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3320" y="2304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56552" y="2212848"/>
            <a:ext cx="424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제공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56552" y="2505456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답변, 리포트     ·     즉시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78728" y="2944368"/>
            <a:ext cx="5346040" cy="731520"/>
          </a:xfrm>
          <a:prstGeom prst="roundRect">
            <a:avLst>
              <a:gd name="adj" fmla="val 1125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43320" y="312724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3320" y="31272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56552" y="3035808"/>
            <a:ext cx="424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알림·에스컬레이션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56552" y="3328416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통보, 교대 브리핑     ·     즉시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78728" y="3767328"/>
            <a:ext cx="5346040" cy="731520"/>
          </a:xfrm>
          <a:prstGeom prst="roundRect">
            <a:avLst>
              <a:gd name="adj" fmla="val 11250"/>
            </a:avLst>
          </a:prstGeom>
          <a:solidFill>
            <a:srgbClr val="FBF1E0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3320" y="39502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3320" y="39502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56552" y="3858768"/>
            <a:ext cx="424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영향 조치 제안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56552" y="4151376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Hold, dose 보정     ·     승인 후 실행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8728" y="4590288"/>
            <a:ext cx="5346040" cy="731520"/>
          </a:xfrm>
          <a:prstGeom prst="roundRect">
            <a:avLst>
              <a:gd name="adj" fmla="val 11250"/>
            </a:avLst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43320" y="477316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3320" y="47731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56552" y="4681728"/>
            <a:ext cx="424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조치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156552" y="4974336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시나리오만     ·     실측 근거 후 개별 승격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278728" y="5468112"/>
            <a:ext cx="534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시나리오는 L2에서 시작한다. 승인율·오탐율이 쌓인 것만 L3 승격을 개별 심의한다.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등급을 LLM이 정하지 않는 이유 — 조치는 감사 대상이고, 감사는 설명 가능한 규칙을 요구한다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에이전트가 쓰는 도구 8종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계산은 도구(코드)가 하고, LLM은 그 결과를 읽어 연결만 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0292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385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38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· 5종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52374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get_spc_trend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75234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조회 + 변화 시점·변화량 계산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07238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commonality_analysis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30098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lot의 공통 설비·챔버·시간대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362102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get_master_info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84962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설비·레시피·PM 이력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416966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get_interlock_history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439826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인터록 이력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471830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search_fab_data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494690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가드된 비정형 조회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15584" y="1737360"/>
            <a:ext cx="3017520" cy="35661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19385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938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2종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53328" y="25237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classify_wafer_map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53328" y="275234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패턴 분류 + 유사 사례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53328" y="30723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analyze_defect_images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53328" y="330098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유형 분류·판독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53328" y="4443984"/>
            <a:ext cx="2542032" cy="658368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99632" y="444398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데이터로 학습한 전용 모델을 호출한다.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에게 픽셀 판독을 직접 시키지 않는다.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1737360"/>
            <a:ext cx="2569464" cy="3566160"/>
          </a:xfrm>
          <a:prstGeom prst="roundRect">
            <a:avLst>
              <a:gd name="adj" fmla="val 3203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90304" y="193852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0304" y="1938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· 1종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90304" y="252374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search_inform_notes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90304" y="275234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조치이력 유사 사례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(벡터 + 키워드 하이브리드)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90304" y="4443984"/>
            <a:ext cx="2093976" cy="658368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36608" y="4443984"/>
            <a:ext cx="180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등록된 Inform Note 만 검색한다.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안 된 지식은 AI 에게 없는 지식이다.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5468112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FBF1E0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5468112"/>
            <a:ext cx="105091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commonality_analysis 가 특히 중요하다 — 불량 wafer의 공통 설비를 찾는 건 원인분석의 표준 기법인데, 이걸 LLM의 즉석 SQL에 맡기지 않고 검증된 함수로 제공해야 판단이 안정된다.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하나씩 붙을수록 답이 달라진다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 "PHO-D03 설비 CD 급등, 원인이 뭐야?" — 열 하나가 개발 마일스톤 하나다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986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인용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3708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판독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7548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5138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생성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1700784"/>
            <a:ext cx="1834835" cy="1847088"/>
          </a:xfrm>
          <a:prstGeom prst="roundRect">
            <a:avLst>
              <a:gd name="adj" fmla="val 448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66544" y="1810512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LLM 단독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66544" y="2139696"/>
            <a:ext cx="15788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"CD는 노광, 식각 등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요인이…"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66544" y="3127248"/>
            <a:ext cx="15788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일반론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00498" y="401421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0498" y="4014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00498" y="439826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0498" y="43982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00498" y="4782312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0498" y="4782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00498" y="51663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00498" y="5166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01379" y="1700784"/>
            <a:ext cx="1834835" cy="1847088"/>
          </a:xfrm>
          <a:prstGeom prst="roundRect">
            <a:avLst>
              <a:gd name="adj" fmla="val 448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29395" y="1810512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+ RAG 검색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9395" y="2139696"/>
            <a:ext cx="15788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"유사건은 현상액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 후…"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9395" y="3127248"/>
            <a:ext cx="15788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못 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349" y="401421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349" y="4014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349" y="439826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349" y="43982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349" y="4782312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349" y="4782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349" y="51663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349" y="5166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64230" y="1700784"/>
            <a:ext cx="1834835" cy="1847088"/>
          </a:xfrm>
          <a:prstGeom prst="roundRect">
            <a:avLst>
              <a:gd name="adj" fmla="val 448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92246" y="1810512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+ 이미지 분석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92246" y="2139696"/>
            <a:ext cx="15788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"map 엣지 영역에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scum성 불량 확인"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92246" y="3127248"/>
            <a:ext cx="15788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실데이터를 못 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26200" y="401421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6200" y="4014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6200" y="439826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6200" y="43982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26200" y="4782312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6200" y="4782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26200" y="51663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6200" y="5166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27081" y="1700784"/>
            <a:ext cx="1834835" cy="1847088"/>
          </a:xfrm>
          <a:prstGeom prst="roundRect">
            <a:avLst>
              <a:gd name="adj" fmla="val 448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55097" y="1810512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+ 사내 DB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55097" y="2139696"/>
            <a:ext cx="15788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"레시피 변경 시점과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일치"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55097" y="3127248"/>
            <a:ext cx="15788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조치는 사람 몫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89051" y="401421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89051" y="4014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589051" y="439826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89051" y="43982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589051" y="4782312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89051" y="4782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589051" y="51663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4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89051" y="5166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789932" y="1700784"/>
            <a:ext cx="1834835" cy="1847088"/>
          </a:xfrm>
          <a:prstGeom prst="roundRect">
            <a:avLst>
              <a:gd name="adj" fmla="val 4485"/>
            </a:avLst>
          </a:prstGeom>
          <a:solidFill>
            <a:srgbClr val="FBF1E0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917948" y="1810512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Full Agent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917948" y="2139696"/>
            <a:ext cx="15788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"원인: 레시피 변경.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원복 후 재계측 지시"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917948" y="3127248"/>
            <a:ext cx="15788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판단·조치 완결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551902" y="401421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51902" y="4014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551902" y="439826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51902" y="43982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551902" y="4782312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51902" y="4782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0551902" y="51663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51902" y="5166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66928" y="5650992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22960" y="5650992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5열이 이번 과제의 도착점이다.  '답변의 질' 줄은 골든셋 정답률을 실측한 뒤 그 수치로 교체한다 — 지어낸 퍼센트는 쓰지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12개월, 다섯 단계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만드는 것과 통과 조건이 짝이다 — 통과 못하면 다음으로 가지 않는다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FBF1E0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1~2개월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31136" y="168249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뼈대 · 그림자 운영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24528" y="168249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골격, 조회 도구, 검증기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34656" y="1773936"/>
            <a:ext cx="0" cy="493776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682496"/>
            <a:ext cx="37426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골든셋 30건 일치율 기준선 실측 (조치 미실행)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606040"/>
            <a:ext cx="402336" cy="402336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5420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8163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3~5개월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31136" y="246888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 파일럿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24528" y="24688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 1개 공정, 모든 조치 승인 필수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34656" y="2560320"/>
            <a:ext cx="0" cy="493776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468880"/>
            <a:ext cx="37426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엔지니어가 실제로 쓰는가 · 반려율·재사용률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255264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392424"/>
            <a:ext cx="402336" cy="402336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32841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6027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6~8개월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31136" y="32552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접수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24528" y="32552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Event-to-Question Adapter, 알림·브리핑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34656" y="3346704"/>
            <a:ext cx="0" cy="493776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255264"/>
            <a:ext cx="37426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야간·주말 이벤트 처리 누락 0건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041648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4178808"/>
            <a:ext cx="402336" cy="402336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41148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43891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9~10개월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31136" y="404164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저위험 자동조치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24528" y="404164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수 있는 조치부터 자동화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534656" y="4133088"/>
            <a:ext cx="0" cy="493776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4041648"/>
            <a:ext cx="37426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실행 로그 전건 감사 · 오판율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828032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" y="4965192"/>
            <a:ext cx="402336" cy="402336"/>
          </a:xfrm>
          <a:prstGeom prst="ellipse">
            <a:avLst/>
          </a:prstGeom>
          <a:solidFill>
            <a:srgbClr val="5B7891"/>
          </a:solidFill>
          <a:ln w="12700">
            <a:solidFill>
              <a:srgbClr val="5B78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80160" y="49011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80160" y="517550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11~12개월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31136" y="48280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224528" y="48280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etch·CMP (코어 그대로, 규칙만 추가)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534656" y="4919472"/>
            <a:ext cx="0" cy="493776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4828032"/>
            <a:ext cx="37426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공정 골든셋 회귀 통과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6928" y="5705856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705856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안전망 — 프롬프트·모델·색인을 바꿀 때마다 골든셋 회귀 러너를 돌린다. 통과 못하면 배포하지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자원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GPU는 사내 수요등록 완료, VM·스토리지는 산출근거 제출 완료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2618156" cy="969264"/>
          </a:xfrm>
          <a:prstGeom prst="roundRect">
            <a:avLst>
              <a:gd name="adj" fmla="val 84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10512"/>
            <a:ext cx="22158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H100 20장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8096" y="2231136"/>
            <a:ext cx="221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(수요등록 산출 20.1장)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8820" y="1682496"/>
            <a:ext cx="2618156" cy="969264"/>
          </a:xfrm>
          <a:prstGeom prst="roundRect">
            <a:avLst>
              <a:gd name="adj" fmla="val 84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9988" y="1810512"/>
            <a:ext cx="22158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VM 5대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59988" y="2231136"/>
            <a:ext cx="221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 vCPU · 5,120GB · 153,600GB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50712" y="1682496"/>
            <a:ext cx="2618156" cy="969264"/>
          </a:xfrm>
          <a:prstGeom prst="roundRect">
            <a:avLst>
              <a:gd name="adj" fmla="val 84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1880" y="1810512"/>
            <a:ext cx="22158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100TB + 50TB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51880" y="2231136"/>
            <a:ext cx="221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 + Object Storage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42603" y="1682496"/>
            <a:ext cx="2618156" cy="969264"/>
          </a:xfrm>
          <a:prstGeom prst="roundRect">
            <a:avLst>
              <a:gd name="adj" fmla="val 84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3771" y="1810512"/>
            <a:ext cx="22158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3.48억원/년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3771" y="2231136"/>
            <a:ext cx="221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(VM·스토리지 사내 과금)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8712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H100 20장 운용 배분 — 남는 슬롯 0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" y="3200400"/>
          <a:ext cx="5760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510528" y="2871216"/>
            <a:ext cx="5114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VM 5대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10528" y="3236976"/>
            <a:ext cx="5114239" cy="420624"/>
          </a:xfrm>
          <a:prstGeom prst="roundRect">
            <a:avLst>
              <a:gd name="adj" fmla="val 1956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93408" y="32369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svc01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44384" y="3236976"/>
            <a:ext cx="3193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Runtime + Chat GW + 캐시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874959" y="323697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 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10528" y="3730752"/>
            <a:ext cx="5114239" cy="420624"/>
          </a:xfrm>
          <a:prstGeom prst="roundRect">
            <a:avLst>
              <a:gd name="adj" fmla="val 1956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693408" y="37307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svc02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644384" y="3730752"/>
            <a:ext cx="3193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HA + 모니터링 + 회귀평가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874959" y="373075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 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10528" y="4224528"/>
            <a:ext cx="5114239" cy="420624"/>
          </a:xfrm>
          <a:prstGeom prst="roundRect">
            <a:avLst>
              <a:gd name="adj" fmla="val 1956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693408" y="42245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data01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644384" y="4224528"/>
            <a:ext cx="3193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+ pgvector (주) + ETL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874959" y="42245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 X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10528" y="4718304"/>
            <a:ext cx="5114239" cy="420624"/>
          </a:xfrm>
          <a:prstGeom prst="roundRect">
            <a:avLst>
              <a:gd name="adj" fmla="val 1956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693408" y="4718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data02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7644384" y="4718304"/>
            <a:ext cx="3193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 standby + 백업 + 감사로그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874959" y="47183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 X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10528" y="5212080"/>
            <a:ext cx="5114239" cy="420624"/>
          </a:xfrm>
          <a:prstGeom prst="roundRect">
            <a:avLst>
              <a:gd name="adj" fmla="val 1956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693408" y="5212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train01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644384" y="5212080"/>
            <a:ext cx="31939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빌드 + 웨이트 병합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874959" y="5212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 X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모드에서는 16장을 SFT·DPO로 전환하고 경량 서빙 4장을 유지해 이미지 기능이 끊기지 않는다 (월 4회)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기대효과와 투자 회수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수요등록 때 제출한 것과 동일한 기준으로 산정했다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440680" cy="2048256"/>
          </a:xfrm>
          <a:prstGeom prst="roundRect">
            <a:avLst>
              <a:gd name="adj" fmla="val 4018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865376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업무 시간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2157984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일 4시간  →  2시간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77824" y="2779776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(4h / 8h) − (2h / 8h) ]  ×  연봉 80,000,000원  ×  1,000명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3127248"/>
            <a:ext cx="4818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 연 200억 원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81928" y="1700784"/>
            <a:ext cx="2534260" cy="2048256"/>
          </a:xfrm>
          <a:prstGeom prst="roundRect">
            <a:avLst>
              <a:gd name="adj" fmla="val 4018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83664"/>
            <a:ext cx="2022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231136"/>
            <a:ext cx="2022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57.5배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37960" y="2999232"/>
            <a:ext cx="2022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기대효과 ÷ 연간 투자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0508" y="1700784"/>
            <a:ext cx="2534260" cy="2048256"/>
          </a:xfrm>
          <a:prstGeom prst="roundRect">
            <a:avLst>
              <a:gd name="adj" fmla="val 4018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46540" y="1883664"/>
            <a:ext cx="2022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회수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46540" y="2231136"/>
            <a:ext cx="2022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6.3일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346540" y="2999232"/>
            <a:ext cx="2022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 ÷ ROI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96849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목표를 절반만 달성해도 — 민감도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20624" y="4261104"/>
          <a:ext cx="57150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281928" y="3968496"/>
            <a:ext cx="5342839" cy="2212848"/>
          </a:xfrm>
          <a:prstGeom prst="roundRect">
            <a:avLst>
              <a:gd name="adj" fmla="val 3719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56248" y="4151376"/>
            <a:ext cx="4794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숫자를 어떻게 검증하나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74536" y="4553712"/>
            <a:ext cx="475762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후 건당 처리 시간을 로그로 실측한다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골든 시나리오 정답률을 함께 측정한다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단위로 보고하고 산정치와의 차이를 조정한다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정답률에 임의의 퍼센트를 쓰지 않는다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잘못될 수 있고, 어떻게 막는가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7건 중 과제 진행 자체를 멈춰야 하는 두 건을 앞에 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858000" cy="640080"/>
          </a:xfrm>
          <a:prstGeom prst="roundRect">
            <a:avLst>
              <a:gd name="adj" fmla="val 12857"/>
            </a:avLst>
          </a:prstGeom>
          <a:solidFill>
            <a:srgbClr val="FBE9E9"/>
          </a:solidFill>
          <a:ln w="12700">
            <a:solidFill>
              <a:srgbClr val="D89A94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47088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B445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64208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호출 품질 부족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64208" y="20299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0에서 최우선 검증. 재시도 래퍼, 필요 시 라우팅만 규칙 기반 폴백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6858000" cy="640080"/>
          </a:xfrm>
          <a:prstGeom prst="roundRect">
            <a:avLst>
              <a:gd name="adj" fmla="val 12857"/>
            </a:avLst>
          </a:prstGeom>
          <a:solidFill>
            <a:srgbClr val="FBE9E9"/>
          </a:solidFill>
          <a:ln w="12700">
            <a:solidFill>
              <a:srgbClr val="D89A94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96896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B445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9689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판단에 근거한 조치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64208" y="27797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승인 게이트 고수, L3는 실측 근거 기반 개별 승격, 전 조치 감사 로그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200400"/>
            <a:ext cx="6858000" cy="640080"/>
          </a:xfrm>
          <a:prstGeom prst="roundRect">
            <a:avLst>
              <a:gd name="adj" fmla="val 1285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46704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4670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4208" y="3255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기간계 DB 부하 유발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64208" y="35295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정보계 경유, 전용 계정·뷰, 타임아웃·행 수 제한, 사건당 캐시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6858000" cy="640080"/>
          </a:xfrm>
          <a:prstGeom prst="roundRect">
            <a:avLst>
              <a:gd name="adj" fmla="val 1285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96512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96512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64208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알림 남발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664208" y="42793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그룹핑·중복 제거, 알림 등급·빈도 튜닝, 수신자 피드백 버튼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700016"/>
            <a:ext cx="6858000" cy="640080"/>
          </a:xfrm>
          <a:prstGeom prst="roundRect">
            <a:avLst>
              <a:gd name="adj" fmla="val 1285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84632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5B7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4632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R2/6/7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64208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부족 · 데이터 품질 · 학습 곡선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64208" y="5029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공개셋 사전학습, 용어 사전 병기, Phase 0~1을 작게 유지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44384" y="1700784"/>
            <a:ext cx="3980383" cy="3602736"/>
          </a:xfrm>
          <a:prstGeom prst="roundRect">
            <a:avLst>
              <a:gd name="adj" fmla="val 2284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18704" y="1883664"/>
            <a:ext cx="3431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게이트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18704" y="2212848"/>
            <a:ext cx="3431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통과하지 못하면 배포하지 않는다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정확도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0" y="2651760"/>
            <a:ext cx="2023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대비 하락 없음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18704" y="3072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26880" y="3072384"/>
            <a:ext cx="2023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recall@10 · MRR · precision@3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18704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차단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326880" y="3493008"/>
            <a:ext cx="2023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날조·왜곡·과장 3종 차단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18704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통제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326880" y="3913632"/>
            <a:ext cx="2023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미승인 L2 실행 0건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18704" y="4334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계정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326880" y="4334256"/>
            <a:ext cx="2023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시도 시 권한 거부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18704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 조치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26880" y="4754880"/>
            <a:ext cx="2023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시 즉시 실패 처리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48640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41248" y="54864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검증은 사람이 보기 좋게 보고하는 것이 아니라, 배포를 막는 자동 게이트로 구현한다 — 개선이 감(感) 싸움이 되지 않게 하는 유일한 장치다.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백지에서 시작하지 않는다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스켈레톤 · 평가 체계 · DB 까지는 이미 서 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040880" cy="603504"/>
          </a:xfrm>
          <a:prstGeom prst="roundRect">
            <a:avLst>
              <a:gd name="adj" fmla="val 13636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문서 31종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99232" y="1737360"/>
            <a:ext cx="4425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시스템설계서, 구축 로드맵, Tool 카탈로그, 그라운딩 설계, 조사규칙 5종, 구현명세서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7040880" cy="603504"/>
          </a:xfrm>
          <a:prstGeom prst="roundRect">
            <a:avLst>
              <a:gd name="adj" fmla="val 13636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587752"/>
            <a:ext cx="329184" cy="329184"/>
          </a:xfrm>
          <a:prstGeom prst="ellipse">
            <a:avLst/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25296" y="245059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9232" y="2450592"/>
            <a:ext cx="4425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조사 코어 스켈레톤 실행 확인, 검증기 5칙 구현, prod 백엔드 4종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7040880" cy="603504"/>
          </a:xfrm>
          <a:prstGeom prst="roundRect">
            <a:avLst>
              <a:gd name="adj" fmla="val 13636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00984"/>
            <a:ext cx="329184" cy="329184"/>
          </a:xfrm>
          <a:prstGeom prst="ellipse">
            <a:avLst/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31638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99232" y="3163824"/>
            <a:ext cx="4425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골든 시나리오 4건 + 회귀 러너 구축 · 회귀 검출 동작 확인 · 검색 recall@10 = 0.500 실측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77056"/>
            <a:ext cx="7040880" cy="603504"/>
          </a:xfrm>
          <a:prstGeom prst="roundRect">
            <a:avLst>
              <a:gd name="adj" fmla="val 13636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014216"/>
            <a:ext cx="329184" cy="329184"/>
          </a:xfrm>
          <a:prstGeom prst="ellipse">
            <a:avLst/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296" y="38770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99232" y="3877056"/>
            <a:ext cx="4425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16.14 + pgvector 0.8.1 구축, 스키마·가드·평가 동작 확인, halfvec 확정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590288"/>
            <a:ext cx="7040880" cy="603504"/>
          </a:xfrm>
          <a:prstGeom prst="roundRect">
            <a:avLst>
              <a:gd name="adj" fmla="val 13636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727448"/>
            <a:ext cx="329184" cy="329184"/>
          </a:xfrm>
          <a:prstGeom prst="ellipse">
            <a:avLst/>
          </a:prstGeom>
          <a:solidFill>
            <a:srgbClr val="3F7D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25296" y="459028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99232" y="4590288"/>
            <a:ext cx="4425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수요등록 완료(H100 20장), BIG VM 5대 산출근거 제출, 스토리지 신청 포함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0416" y="1737360"/>
            <a:ext cx="3724351" cy="3456432"/>
          </a:xfrm>
          <a:prstGeom prst="roundRect">
            <a:avLst>
              <a:gd name="adj" fmla="val 2381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74736" y="1920240"/>
            <a:ext cx="3175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과제에서 하는 일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74736" y="2267712"/>
            <a:ext cx="31757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위에 실데이터와 실도구를 연결하는 단계다.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74736" y="2926080"/>
            <a:ext cx="3175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필요한 것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93024" y="3255264"/>
            <a:ext cx="3139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정보계 접속점 계정·권한 (IT 확인)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H100 반입 일정 → 과제 마감일 동기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 도구 사내 미러 등록 여부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6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현업·개발·인프라·거버넌스 인원 확정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358384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24374F"/>
          </a:solidFill>
          <a:ln w="12700">
            <a:solidFill>
              <a:srgbClr val="24374F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5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96112" y="5358384"/>
            <a:ext cx="10399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설계는 끝났고 검증 체계도 서 있다. 남은 것은 실데이터를 붙여 그림자 운영으로 신뢰를 버는 일이다.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품질 이상감지·판단 AI Agent Orchestration 구축</dc:title>
  <dc:subject>PptxGenJS Presentation</dc:subject>
  <dc:creator>제조기술센터 품질·공정</dc:creator>
  <cp:lastModifiedBy>제조기술센터 품질·공정</cp:lastModifiedBy>
  <cp:revision>1</cp:revision>
  <dcterms:created xsi:type="dcterms:W3CDTF">2026-08-07T11:46:57Z</dcterms:created>
  <dcterms:modified xsi:type="dcterms:W3CDTF">2026-08-07T11:46:57Z</dcterms:modified>
</cp:coreProperties>
</file>